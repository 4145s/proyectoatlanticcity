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2" r:id="rId1"/>
  </p:sldMasterIdLst>
  <p:notesMasterIdLst>
    <p:notesMasterId r:id="rId15"/>
  </p:notesMasterIdLst>
  <p:sldIdLst>
    <p:sldId id="256" r:id="rId2"/>
    <p:sldId id="257" r:id="rId3"/>
    <p:sldId id="258" r:id="rId4"/>
    <p:sldId id="259" r:id="rId5"/>
    <p:sldId id="260" r:id="rId6"/>
    <p:sldId id="266" r:id="rId7"/>
    <p:sldId id="261" r:id="rId8"/>
    <p:sldId id="262" r:id="rId9"/>
    <p:sldId id="265" r:id="rId10"/>
    <p:sldId id="263" r:id="rId11"/>
    <p:sldId id="264" r:id="rId12"/>
    <p:sldId id="268" r:id="rId13"/>
    <p:sldId id="267" r:id="rId14"/>
  </p:sldIdLst>
  <p:sldSz cx="14630400" cy="8229600"/>
  <p:notesSz cx="8229600" cy="146304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522" y="542"/>
      </p:cViewPr>
      <p:guideLst/>
    </p:cSldViewPr>
  </p:slideViewPr>
  <p:notesTextViewPr>
    <p:cViewPr>
      <p:scale>
        <a:sx n="3" d="2"/>
        <a:sy n="3" d="2"/>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520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CA76-63AE-00EB-2A09-5AEFED468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27707-7E92-F822-D85B-03E66BBD3679}"/>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A31507CC-E290-C420-D72C-652459AF9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C8D2C-556B-6402-1FDC-0078C128AF49}"/>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4011072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8BDDE-00B0-C9D2-58AA-5035D2BF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BDA97-E29D-9F33-16D1-2E1FB4DB816D}"/>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CEF3360E-2ED4-A4A5-D829-B4B86D4E2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92D0CE-D817-ED23-C205-8AB3735962E5}"/>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429006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EA68B-9EC3-4E52-CDD4-ACCC9903AB10}"/>
              </a:ext>
            </a:extLst>
          </p:cNvPr>
          <p:cNvSpPr>
            <a:spLocks noGrp="1"/>
          </p:cNvSpPr>
          <p:nvPr>
            <p:ph type="ctrTitle"/>
          </p:nvPr>
        </p:nvSpPr>
        <p:spPr>
          <a:xfrm>
            <a:off x="1828800" y="1346836"/>
            <a:ext cx="10972800" cy="2865120"/>
          </a:xfrm>
        </p:spPr>
        <p:txBody>
          <a:bodyPr anchor="b"/>
          <a:lstStyle>
            <a:lvl1pPr algn="ctr">
              <a:defRPr sz="7200"/>
            </a:lvl1pPr>
          </a:lstStyle>
          <a:p>
            <a:r>
              <a:rPr lang="es-MX"/>
              <a:t>Haz clic para modificar el estilo de título del patrón</a:t>
            </a:r>
            <a:endParaRPr lang="es-PE"/>
          </a:p>
        </p:txBody>
      </p:sp>
      <p:sp>
        <p:nvSpPr>
          <p:cNvPr id="3" name="Subtítulo 2">
            <a:extLst>
              <a:ext uri="{FF2B5EF4-FFF2-40B4-BE49-F238E27FC236}">
                <a16:creationId xmlns:a16="http://schemas.microsoft.com/office/drawing/2014/main" id="{16FBDA82-4AE8-C82A-578B-493A26F9397D}"/>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s-MX"/>
              <a:t>Haz clic para editar el estilo de subtítulo del patrón</a:t>
            </a:r>
            <a:endParaRPr lang="es-PE"/>
          </a:p>
        </p:txBody>
      </p:sp>
      <p:sp>
        <p:nvSpPr>
          <p:cNvPr id="4" name="Marcador de fecha 3">
            <a:extLst>
              <a:ext uri="{FF2B5EF4-FFF2-40B4-BE49-F238E27FC236}">
                <a16:creationId xmlns:a16="http://schemas.microsoft.com/office/drawing/2014/main" id="{CBF60F12-8DD0-528A-7450-70BD9A6066A6}"/>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790FFBF3-66AD-97E1-614D-3AA15B002ECB}"/>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03C881B9-788F-1B61-B577-9D036062888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55126031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7A5B2D-E932-B2A3-EA40-0A99B063910C}"/>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A738474D-77CA-D6FE-4C19-A9A416654C0C}"/>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E7A97FC-967B-2346-4E91-44B7452A2EFE}"/>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E745854B-40B6-D326-1993-4669F4819948}"/>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A4B4C098-D337-3B17-6521-37F5ADB6E68A}"/>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269813025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81449-4E12-84B6-0470-1B399D694ED0}"/>
              </a:ext>
            </a:extLst>
          </p:cNvPr>
          <p:cNvSpPr>
            <a:spLocks noGrp="1"/>
          </p:cNvSpPr>
          <p:nvPr>
            <p:ph type="title"/>
          </p:nvPr>
        </p:nvSpPr>
        <p:spPr>
          <a:xfrm>
            <a:off x="998220" y="2051686"/>
            <a:ext cx="12618720" cy="3423284"/>
          </a:xfrm>
        </p:spPr>
        <p:txBody>
          <a:bodyPr anchor="b"/>
          <a:lstStyle>
            <a:lvl1pPr>
              <a:defRPr sz="7200"/>
            </a:lvl1p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9C917B8A-6FD6-CD4D-4E78-CAE9DD8552A8}"/>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5E7480C-2586-68DA-A8C2-B127646558A3}"/>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E3EB186D-A897-0F84-9A26-68498FB28E50}"/>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1C248406-0274-4FBA-0BFE-0F4EA078DB3F}"/>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38143382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6FCE9-8458-23BE-49E3-6280FCA5C4E7}"/>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C516D297-35E6-038E-41F6-5AA159454D80}"/>
              </a:ext>
            </a:extLst>
          </p:cNvPr>
          <p:cNvSpPr>
            <a:spLocks noGrp="1"/>
          </p:cNvSpPr>
          <p:nvPr>
            <p:ph sz="half" idx="1"/>
          </p:nvPr>
        </p:nvSpPr>
        <p:spPr>
          <a:xfrm>
            <a:off x="1005840" y="2190750"/>
            <a:ext cx="6217920" cy="52216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contenido 3">
            <a:extLst>
              <a:ext uri="{FF2B5EF4-FFF2-40B4-BE49-F238E27FC236}">
                <a16:creationId xmlns:a16="http://schemas.microsoft.com/office/drawing/2014/main" id="{7815B93B-1252-7EA6-2B12-9EF72BAE552A}"/>
              </a:ext>
            </a:extLst>
          </p:cNvPr>
          <p:cNvSpPr>
            <a:spLocks noGrp="1"/>
          </p:cNvSpPr>
          <p:nvPr>
            <p:ph sz="half" idx="2"/>
          </p:nvPr>
        </p:nvSpPr>
        <p:spPr>
          <a:xfrm>
            <a:off x="7406640" y="2190750"/>
            <a:ext cx="6217920" cy="52216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fecha 4">
            <a:extLst>
              <a:ext uri="{FF2B5EF4-FFF2-40B4-BE49-F238E27FC236}">
                <a16:creationId xmlns:a16="http://schemas.microsoft.com/office/drawing/2014/main" id="{9B93282E-D28D-30ED-F52C-618A8B31997F}"/>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6" name="Marcador de pie de página 5">
            <a:extLst>
              <a:ext uri="{FF2B5EF4-FFF2-40B4-BE49-F238E27FC236}">
                <a16:creationId xmlns:a16="http://schemas.microsoft.com/office/drawing/2014/main" id="{272A257D-61C9-135F-2339-8666C23375C5}"/>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D450B190-C28C-C8EE-B447-AEDEF3DA6C13}"/>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6436798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BA9D4-A489-89CB-B064-D8B76B2FA5A8}"/>
              </a:ext>
            </a:extLst>
          </p:cNvPr>
          <p:cNvSpPr>
            <a:spLocks noGrp="1"/>
          </p:cNvSpPr>
          <p:nvPr>
            <p:ph type="title"/>
          </p:nvPr>
        </p:nvSpPr>
        <p:spPr>
          <a:xfrm>
            <a:off x="1007746" y="438150"/>
            <a:ext cx="12618720" cy="1590676"/>
          </a:xfrm>
        </p:spPr>
        <p:txBody>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21EC5E3D-883D-9847-EA71-FC81FC017AA9}"/>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2738D12-CEA6-8C41-406E-9BE2C3E357F6}"/>
              </a:ext>
            </a:extLst>
          </p:cNvPr>
          <p:cNvSpPr>
            <a:spLocks noGrp="1"/>
          </p:cNvSpPr>
          <p:nvPr>
            <p:ph sz="half" idx="2"/>
          </p:nvPr>
        </p:nvSpPr>
        <p:spPr>
          <a:xfrm>
            <a:off x="1007746" y="3006090"/>
            <a:ext cx="6189344" cy="44215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texto 4">
            <a:extLst>
              <a:ext uri="{FF2B5EF4-FFF2-40B4-BE49-F238E27FC236}">
                <a16:creationId xmlns:a16="http://schemas.microsoft.com/office/drawing/2014/main" id="{5ECCEEF3-B3A4-15C8-0C9A-57C369393A1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E5F7230-520B-9E62-1C7F-9F3F9B6277BC}"/>
              </a:ext>
            </a:extLst>
          </p:cNvPr>
          <p:cNvSpPr>
            <a:spLocks noGrp="1"/>
          </p:cNvSpPr>
          <p:nvPr>
            <p:ph sz="quarter" idx="4"/>
          </p:nvPr>
        </p:nvSpPr>
        <p:spPr>
          <a:xfrm>
            <a:off x="7406640" y="3006090"/>
            <a:ext cx="6219826" cy="44215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7" name="Marcador de fecha 6">
            <a:extLst>
              <a:ext uri="{FF2B5EF4-FFF2-40B4-BE49-F238E27FC236}">
                <a16:creationId xmlns:a16="http://schemas.microsoft.com/office/drawing/2014/main" id="{D62E0BB5-7180-3DD9-A34A-156A9D25A2D0}"/>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8" name="Marcador de pie de página 7">
            <a:extLst>
              <a:ext uri="{FF2B5EF4-FFF2-40B4-BE49-F238E27FC236}">
                <a16:creationId xmlns:a16="http://schemas.microsoft.com/office/drawing/2014/main" id="{4BEBA756-5C5C-0A92-384D-4E7E2EEE6175}"/>
              </a:ext>
            </a:extLst>
          </p:cNvPr>
          <p:cNvSpPr>
            <a:spLocks noGrp="1"/>
          </p:cNvSpPr>
          <p:nvPr>
            <p:ph type="ftr" sz="quarter" idx="11"/>
          </p:nvPr>
        </p:nvSpPr>
        <p:spPr/>
        <p:txBody>
          <a:bodyPr/>
          <a:lstStyle/>
          <a:p>
            <a:endParaRPr lang="es-PE" dirty="0"/>
          </a:p>
        </p:txBody>
      </p:sp>
      <p:sp>
        <p:nvSpPr>
          <p:cNvPr id="9" name="Marcador de número de diapositiva 8">
            <a:extLst>
              <a:ext uri="{FF2B5EF4-FFF2-40B4-BE49-F238E27FC236}">
                <a16:creationId xmlns:a16="http://schemas.microsoft.com/office/drawing/2014/main" id="{E619D677-6BEC-7D17-58AE-E333201C7E46}"/>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42660459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6CEC51-CC0F-8305-F4A1-A3A05B1B7460}"/>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fecha 2">
            <a:extLst>
              <a:ext uri="{FF2B5EF4-FFF2-40B4-BE49-F238E27FC236}">
                <a16:creationId xmlns:a16="http://schemas.microsoft.com/office/drawing/2014/main" id="{B99C4504-7AF9-EE37-0CD1-6414BCE9C3CD}"/>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4" name="Marcador de pie de página 3">
            <a:extLst>
              <a:ext uri="{FF2B5EF4-FFF2-40B4-BE49-F238E27FC236}">
                <a16:creationId xmlns:a16="http://schemas.microsoft.com/office/drawing/2014/main" id="{A86B7D74-5E5B-5A40-5F8F-2F16D0931125}"/>
              </a:ext>
            </a:extLst>
          </p:cNvPr>
          <p:cNvSpPr>
            <a:spLocks noGrp="1"/>
          </p:cNvSpPr>
          <p:nvPr>
            <p:ph type="ftr" sz="quarter" idx="11"/>
          </p:nvPr>
        </p:nvSpPr>
        <p:spPr/>
        <p:txBody>
          <a:bodyPr/>
          <a:lstStyle/>
          <a:p>
            <a:endParaRPr lang="es-PE" dirty="0"/>
          </a:p>
        </p:txBody>
      </p:sp>
      <p:sp>
        <p:nvSpPr>
          <p:cNvPr id="5" name="Marcador de número de diapositiva 4">
            <a:extLst>
              <a:ext uri="{FF2B5EF4-FFF2-40B4-BE49-F238E27FC236}">
                <a16:creationId xmlns:a16="http://schemas.microsoft.com/office/drawing/2014/main" id="{EA6F21D6-D508-F248-EEE8-9C15D73EAA9A}"/>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647924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2C4E7E5-8E29-8008-FDA1-F3E4A6146769}"/>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3" name="Marcador de pie de página 2">
            <a:extLst>
              <a:ext uri="{FF2B5EF4-FFF2-40B4-BE49-F238E27FC236}">
                <a16:creationId xmlns:a16="http://schemas.microsoft.com/office/drawing/2014/main" id="{86335CEA-215B-DF9C-A8D6-B26E55A17B56}"/>
              </a:ext>
            </a:extLst>
          </p:cNvPr>
          <p:cNvSpPr>
            <a:spLocks noGrp="1"/>
          </p:cNvSpPr>
          <p:nvPr>
            <p:ph type="ftr" sz="quarter" idx="11"/>
          </p:nvPr>
        </p:nvSpPr>
        <p:spPr/>
        <p:txBody>
          <a:bodyPr/>
          <a:lstStyle/>
          <a:p>
            <a:endParaRPr lang="es-PE" dirty="0"/>
          </a:p>
        </p:txBody>
      </p:sp>
      <p:sp>
        <p:nvSpPr>
          <p:cNvPr id="4" name="Marcador de número de diapositiva 3">
            <a:extLst>
              <a:ext uri="{FF2B5EF4-FFF2-40B4-BE49-F238E27FC236}">
                <a16:creationId xmlns:a16="http://schemas.microsoft.com/office/drawing/2014/main" id="{3072296A-8016-1D67-8D2B-B7CADE13005E}"/>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403732424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DF87A-E80B-2A70-B3F7-901FB54332D1}"/>
              </a:ext>
            </a:extLst>
          </p:cNvPr>
          <p:cNvSpPr>
            <a:spLocks noGrp="1"/>
          </p:cNvSpPr>
          <p:nvPr>
            <p:ph type="title"/>
          </p:nvPr>
        </p:nvSpPr>
        <p:spPr>
          <a:xfrm>
            <a:off x="1007746" y="548640"/>
            <a:ext cx="4718684" cy="1920240"/>
          </a:xfrm>
        </p:spPr>
        <p:txBody>
          <a:bodyPr anchor="b"/>
          <a:lstStyle>
            <a:lvl1pPr>
              <a:defRPr sz="3840"/>
            </a:lvl1p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2683873B-09C3-574B-F88E-FE94BA841E2B}"/>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texto 3">
            <a:extLst>
              <a:ext uri="{FF2B5EF4-FFF2-40B4-BE49-F238E27FC236}">
                <a16:creationId xmlns:a16="http://schemas.microsoft.com/office/drawing/2014/main" id="{3674B11D-7416-D8D0-3EC9-8D617999CCE0}"/>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9784777-2723-47C1-5214-CD06C5843C22}"/>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6" name="Marcador de pie de página 5">
            <a:extLst>
              <a:ext uri="{FF2B5EF4-FFF2-40B4-BE49-F238E27FC236}">
                <a16:creationId xmlns:a16="http://schemas.microsoft.com/office/drawing/2014/main" id="{EFC384EE-2366-4F7D-34F6-1A77E0735DF6}"/>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A0B0633B-B527-2895-0EFF-30C10C3F23B3}"/>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24569273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71876F-3E0A-255D-014A-E17240F2B47A}"/>
              </a:ext>
            </a:extLst>
          </p:cNvPr>
          <p:cNvSpPr>
            <a:spLocks noGrp="1"/>
          </p:cNvSpPr>
          <p:nvPr>
            <p:ph type="title"/>
          </p:nvPr>
        </p:nvSpPr>
        <p:spPr>
          <a:xfrm>
            <a:off x="1007746" y="548640"/>
            <a:ext cx="4718684" cy="1920240"/>
          </a:xfrm>
        </p:spPr>
        <p:txBody>
          <a:bodyPr anchor="b"/>
          <a:lstStyle>
            <a:lvl1pPr>
              <a:defRPr sz="3840"/>
            </a:lvl1pPr>
          </a:lstStyle>
          <a:p>
            <a:r>
              <a:rPr lang="es-MX"/>
              <a:t>Haz clic para modificar el estilo de título del patrón</a:t>
            </a:r>
            <a:endParaRPr lang="es-PE"/>
          </a:p>
        </p:txBody>
      </p:sp>
      <p:sp>
        <p:nvSpPr>
          <p:cNvPr id="3" name="Marcador de posición de imagen 2">
            <a:extLst>
              <a:ext uri="{FF2B5EF4-FFF2-40B4-BE49-F238E27FC236}">
                <a16:creationId xmlns:a16="http://schemas.microsoft.com/office/drawing/2014/main" id="{BE1C94A3-5F23-A102-BDE3-B097A4907451}"/>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s-PE" dirty="0"/>
          </a:p>
        </p:txBody>
      </p:sp>
      <p:sp>
        <p:nvSpPr>
          <p:cNvPr id="4" name="Marcador de texto 3">
            <a:extLst>
              <a:ext uri="{FF2B5EF4-FFF2-40B4-BE49-F238E27FC236}">
                <a16:creationId xmlns:a16="http://schemas.microsoft.com/office/drawing/2014/main" id="{9AD2CB6F-80A2-9C09-3D04-B5AF84C0816F}"/>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CFDAC3D-AB68-8809-669C-A47B83C024AE}"/>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6" name="Marcador de pie de página 5">
            <a:extLst>
              <a:ext uri="{FF2B5EF4-FFF2-40B4-BE49-F238E27FC236}">
                <a16:creationId xmlns:a16="http://schemas.microsoft.com/office/drawing/2014/main" id="{CBCB50E2-D14F-EEA0-D099-264D18756C9E}"/>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2C9A723D-B50A-F3E0-E45A-11699BE3852C}"/>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562424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32EA2-0DFD-E609-B6AF-542F216A69E5}"/>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AC7FFCDB-F810-BA61-6323-6086F788C426}"/>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1500117-98E2-0582-1679-C2F72E0E44FD}"/>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4C516F58-C45B-1384-7F49-87D667FA4210}"/>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7EE367FA-7044-9203-6FD1-372ACC477B5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4807771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FD24E8-6C44-1E2C-DF92-268074624DB1}"/>
              </a:ext>
            </a:extLst>
          </p:cNvPr>
          <p:cNvSpPr>
            <a:spLocks noGrp="1"/>
          </p:cNvSpPr>
          <p:nvPr>
            <p:ph type="title" orient="vert"/>
          </p:nvPr>
        </p:nvSpPr>
        <p:spPr>
          <a:xfrm>
            <a:off x="10469880" y="438150"/>
            <a:ext cx="3154680" cy="6974206"/>
          </a:xfrm>
        </p:spPr>
        <p:txBody>
          <a:bodyPr vert="eaVert"/>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7C1B6E26-A24B-24F3-6A7B-C07003D63040}"/>
              </a:ext>
            </a:extLst>
          </p:cNvPr>
          <p:cNvSpPr>
            <a:spLocks noGrp="1"/>
          </p:cNvSpPr>
          <p:nvPr>
            <p:ph type="body" orient="vert" idx="1"/>
          </p:nvPr>
        </p:nvSpPr>
        <p:spPr>
          <a:xfrm>
            <a:off x="1005840" y="438150"/>
            <a:ext cx="9281160" cy="6974206"/>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43B6A20-6E9B-1AE9-0083-CA330449521D}"/>
              </a:ext>
            </a:extLst>
          </p:cNvPr>
          <p:cNvSpPr>
            <a:spLocks noGrp="1"/>
          </p:cNvSpPr>
          <p:nvPr>
            <p:ph type="dt" sz="half" idx="10"/>
          </p:nvPr>
        </p:nvSpPr>
        <p:spPr/>
        <p:txBody>
          <a:body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5A8BD6DA-52CC-1BBB-A017-4CA0C7E468BA}"/>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9D4EB2C2-58F4-BB1E-791B-6D0D59769B3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9113644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873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764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769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664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9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487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406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986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6645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72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1357292-035E-01D3-939D-F952F9932D34}"/>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A854F54D-F74B-D0D4-D527-6FFD47231465}"/>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53A5565A-CFFA-BE07-8A7A-A50CF2129A69}"/>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0DB159B7-5CBD-48AB-B22B-DB8E8D16D83E}" type="datetimeFigureOut">
              <a:rPr lang="es-PE" smtClean="0"/>
              <a:t>5/11/2025</a:t>
            </a:fld>
            <a:endParaRPr lang="es-PE" dirty="0"/>
          </a:p>
        </p:txBody>
      </p:sp>
      <p:sp>
        <p:nvSpPr>
          <p:cNvPr id="5" name="Marcador de pie de página 4">
            <a:extLst>
              <a:ext uri="{FF2B5EF4-FFF2-40B4-BE49-F238E27FC236}">
                <a16:creationId xmlns:a16="http://schemas.microsoft.com/office/drawing/2014/main" id="{9CFA2BD2-2021-5A91-C09B-40C5731F7859}"/>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s-PE" dirty="0"/>
          </a:p>
        </p:txBody>
      </p:sp>
      <p:sp>
        <p:nvSpPr>
          <p:cNvPr id="6" name="Marcador de número de diapositiva 5">
            <a:extLst>
              <a:ext uri="{FF2B5EF4-FFF2-40B4-BE49-F238E27FC236}">
                <a16:creationId xmlns:a16="http://schemas.microsoft.com/office/drawing/2014/main" id="{7EAF7CC6-14BC-1F32-2859-B428401AC54D}"/>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32786900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s-P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s-PE" noProof="0" dirty="0"/>
          </a:p>
        </p:txBody>
      </p:sp>
      <p:sp>
        <p:nvSpPr>
          <p:cNvPr id="4" name="Text 1"/>
          <p:cNvSpPr/>
          <p:nvPr/>
        </p:nvSpPr>
        <p:spPr>
          <a:xfrm>
            <a:off x="864037" y="2718316"/>
            <a:ext cx="12902327" cy="1543050"/>
          </a:xfrm>
          <a:prstGeom prst="rect">
            <a:avLst/>
          </a:prstGeom>
          <a:noFill/>
          <a:ln/>
        </p:spPr>
        <p:txBody>
          <a:bodyPr wrap="squar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Desarrollo de un Sistema de Gestión de Clientes para Atlantic City</a:t>
            </a:r>
            <a:endParaRPr lang="es-PE" sz="4850" noProof="0" dirty="0"/>
          </a:p>
        </p:txBody>
      </p:sp>
      <p:sp>
        <p:nvSpPr>
          <p:cNvPr id="5" name="Text 2"/>
          <p:cNvSpPr/>
          <p:nvPr/>
        </p:nvSpPr>
        <p:spPr>
          <a:xfrm>
            <a:off x="864037" y="4360069"/>
            <a:ext cx="6187678"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Mejora de la Eficiencia Operativa y Toma de Decisiones</a:t>
            </a:r>
            <a:endParaRPr lang="es-PE" sz="2400" noProof="0" dirty="0"/>
          </a:p>
        </p:txBody>
      </p:sp>
      <p:sp>
        <p:nvSpPr>
          <p:cNvPr id="6" name="Text 3"/>
          <p:cNvSpPr/>
          <p:nvPr/>
        </p:nvSpPr>
        <p:spPr>
          <a:xfrm>
            <a:off x="864037" y="5116116"/>
            <a:ext cx="12902327" cy="395049"/>
          </a:xfrm>
          <a:prstGeom prst="rect">
            <a:avLst/>
          </a:prstGeom>
          <a:noFill/>
          <a:ln/>
        </p:spPr>
        <p:txBody>
          <a:bodyPr wrap="non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Integrantes: Gabriel Alzamora Yarleque, Mister Abad Gonza, Jhonny Bogado Villegas, Kevin Dioses Lopez</a:t>
            </a:r>
            <a:endParaRPr lang="es-PE" sz="19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416368"/>
            <a:ext cx="7404259" cy="771525"/>
          </a:xfrm>
          <a:prstGeom prst="rect">
            <a:avLst/>
          </a:prstGeom>
          <a:noFill/>
          <a:ln/>
        </p:spPr>
        <p:txBody>
          <a:bodyPr wrap="non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Resumen Ejecutivo del Proyecto</a:t>
            </a:r>
            <a:endParaRPr lang="es-PE" sz="4850" noProof="0" dirty="0"/>
          </a:p>
        </p:txBody>
      </p:sp>
      <p:sp>
        <p:nvSpPr>
          <p:cNvPr id="3" name="Text 1"/>
          <p:cNvSpPr/>
          <p:nvPr/>
        </p:nvSpPr>
        <p:spPr>
          <a:xfrm>
            <a:off x="864037" y="2681645"/>
            <a:ext cx="12902327" cy="790099"/>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Análisis de la situación actual de Atlantic City, una empresa líder en el sector de entretenimiento con más de 1,200 empleados. A pesar de su crecimiento, la infraestructura tecnológica no se ha modernizado, resultando en problemas operativos significativos.</a:t>
            </a:r>
            <a:endParaRPr lang="es-PE" sz="1900" noProof="0" dirty="0"/>
          </a:p>
        </p:txBody>
      </p:sp>
      <p:sp>
        <p:nvSpPr>
          <p:cNvPr id="4" name="Shape 2"/>
          <p:cNvSpPr/>
          <p:nvPr/>
        </p:nvSpPr>
        <p:spPr>
          <a:xfrm>
            <a:off x="864037"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5" name="Text 3"/>
          <p:cNvSpPr/>
          <p:nvPr/>
        </p:nvSpPr>
        <p:spPr>
          <a:xfrm>
            <a:off x="1141333"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Infraestructura Obsoleta</a:t>
            </a:r>
            <a:endParaRPr lang="es-PE" sz="2400" noProof="0" dirty="0"/>
          </a:p>
        </p:txBody>
      </p:sp>
      <p:sp>
        <p:nvSpPr>
          <p:cNvPr id="6" name="Text 4"/>
          <p:cNvSpPr/>
          <p:nvPr/>
        </p:nvSpPr>
        <p:spPr>
          <a:xfrm>
            <a:off x="1141333"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El crecimiento de la empresa ha superado la capacidad de su tecnología actual, que no ha sido actualizada para satisfacer las demandas modernas.</a:t>
            </a:r>
            <a:endParaRPr lang="es-PE" sz="1900" noProof="0" dirty="0"/>
          </a:p>
        </p:txBody>
      </p:sp>
      <p:sp>
        <p:nvSpPr>
          <p:cNvPr id="7" name="Shape 5"/>
          <p:cNvSpPr/>
          <p:nvPr/>
        </p:nvSpPr>
        <p:spPr>
          <a:xfrm>
            <a:off x="5247084"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8" name="Text 6"/>
          <p:cNvSpPr/>
          <p:nvPr/>
        </p:nvSpPr>
        <p:spPr>
          <a:xfrm>
            <a:off x="5524381"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Sistemas Fragmentados</a:t>
            </a:r>
            <a:endParaRPr lang="es-PE" sz="2400" noProof="0" dirty="0"/>
          </a:p>
        </p:txBody>
      </p:sp>
      <p:sp>
        <p:nvSpPr>
          <p:cNvPr id="9" name="Text 7"/>
          <p:cNvSpPr/>
          <p:nvPr/>
        </p:nvSpPr>
        <p:spPr>
          <a:xfrm>
            <a:off x="5524381"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Se utilizan múltiples sistemas no integrados para gestionar membresías, promociones e inscripciones, operando de forma aislada.</a:t>
            </a:r>
            <a:endParaRPr lang="es-PE" sz="1900" noProof="0" dirty="0"/>
          </a:p>
        </p:txBody>
      </p:sp>
      <p:sp>
        <p:nvSpPr>
          <p:cNvPr id="10" name="Shape 8"/>
          <p:cNvSpPr/>
          <p:nvPr/>
        </p:nvSpPr>
        <p:spPr>
          <a:xfrm>
            <a:off x="9630132"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11" name="Text 9"/>
          <p:cNvSpPr/>
          <p:nvPr/>
        </p:nvSpPr>
        <p:spPr>
          <a:xfrm>
            <a:off x="9907429"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Consecuencias Críticas</a:t>
            </a:r>
            <a:endParaRPr lang="es-PE" sz="2400" noProof="0" dirty="0"/>
          </a:p>
        </p:txBody>
      </p:sp>
      <p:sp>
        <p:nvSpPr>
          <p:cNvPr id="12" name="Text 10"/>
          <p:cNvSpPr/>
          <p:nvPr/>
        </p:nvSpPr>
        <p:spPr>
          <a:xfrm>
            <a:off x="9907429"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Esta fragmentación provoca duplicidad de datos, errores operativos y una falta de coordinación entre las diferentes áreas de la empresa.</a:t>
            </a:r>
            <a:endParaRPr lang="es-PE" sz="19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553289"/>
            <a:ext cx="8718947" cy="771525"/>
          </a:xfrm>
          <a:prstGeom prst="rect">
            <a:avLst/>
          </a:prstGeom>
          <a:noFill/>
          <a:ln/>
        </p:spPr>
        <p:txBody>
          <a:bodyPr wrap="non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Introducción a la Solución Propuesta</a:t>
            </a:r>
            <a:endParaRPr lang="es-PE" sz="4850" noProof="0" dirty="0"/>
          </a:p>
        </p:txBody>
      </p:sp>
      <p:sp>
        <p:nvSpPr>
          <p:cNvPr id="3" name="Text 1"/>
          <p:cNvSpPr/>
          <p:nvPr/>
        </p:nvSpPr>
        <p:spPr>
          <a:xfrm>
            <a:off x="864037" y="2423517"/>
            <a:ext cx="3635454"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Centralización y Modernización</a:t>
            </a:r>
            <a:endParaRPr lang="es-PE" sz="2400" noProof="0" dirty="0"/>
          </a:p>
        </p:txBody>
      </p:sp>
      <p:sp>
        <p:nvSpPr>
          <p:cNvPr id="4" name="Text 2"/>
          <p:cNvSpPr/>
          <p:nvPr/>
        </p:nvSpPr>
        <p:spPr>
          <a:xfrm>
            <a:off x="864037" y="3179564"/>
            <a:ext cx="12902327" cy="1185148"/>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Proponemos el desarrollo de un sistema de gestión de clientes (CRM) para centralizar todos los datos en una plataforma única. El objetivo es modernizar la infraestructura tecnológica, integrando todas las funcionalidades clave para eliminar la duplicidad de datos y obtener una visión 360 de cada cliente.</a:t>
            </a:r>
            <a:endParaRPr lang="es-PE" sz="1900" noProof="0" dirty="0"/>
          </a:p>
        </p:txBody>
      </p:sp>
      <p:sp>
        <p:nvSpPr>
          <p:cNvPr id="5" name="Text 3"/>
          <p:cNvSpPr/>
          <p:nvPr/>
        </p:nvSpPr>
        <p:spPr>
          <a:xfrm>
            <a:off x="864037" y="4734997"/>
            <a:ext cx="3434001"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Hacia una Cultura Data-Driven</a:t>
            </a:r>
            <a:endParaRPr lang="es-PE" sz="2400" noProof="0" dirty="0"/>
          </a:p>
        </p:txBody>
      </p:sp>
      <p:sp>
        <p:nvSpPr>
          <p:cNvPr id="6" name="Text 4"/>
          <p:cNvSpPr/>
          <p:nvPr/>
        </p:nvSpPr>
        <p:spPr>
          <a:xfrm>
            <a:off x="864037" y="5491043"/>
            <a:ext cx="12902327" cy="1185148"/>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Esta transformación mejorará la eficiencia operativa y la experiencia del cliente mediante la personalización. Facilitará la recopilación y análisis de datos en tiempo real, permitiendo a Atlantic City tomar decisiones estratégicas fundamentadas y asegurar su competitividad futura.</a:t>
            </a:r>
            <a:endParaRPr lang="es-PE" sz="1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9012" y="525542"/>
            <a:ext cx="8007429" cy="597337"/>
          </a:xfrm>
          <a:prstGeom prst="rect">
            <a:avLst/>
          </a:prstGeom>
          <a:noFill/>
          <a:ln/>
        </p:spPr>
        <p:txBody>
          <a:bodyPr wrap="none" lIns="0" tIns="0" rIns="0" bIns="0" rtlCol="0" anchor="t"/>
          <a:lstStyle/>
          <a:p>
            <a:pPr marL="0" indent="0" algn="l">
              <a:lnSpc>
                <a:spcPts val="4700"/>
              </a:lnSpc>
              <a:buNone/>
            </a:pPr>
            <a:r>
              <a:rPr lang="es-PE" sz="4000" b="1" noProof="0" dirty="0">
                <a:solidFill>
                  <a:srgbClr val="666666"/>
                </a:solidFill>
                <a:latin typeface="Staatliches Bold" pitchFamily="34" charset="0"/>
                <a:ea typeface="Staatliches Bold" pitchFamily="34" charset="-122"/>
                <a:cs typeface="Staatliches Bold" pitchFamily="34" charset="-120"/>
              </a:rPr>
              <a:t>FASE 1: Comprensión del Problema y Objetivos</a:t>
            </a:r>
            <a:endParaRPr lang="es-PE" sz="4000" noProof="0" dirty="0"/>
          </a:p>
        </p:txBody>
      </p:sp>
      <p:sp>
        <p:nvSpPr>
          <p:cNvPr id="3" name="Text 1"/>
          <p:cNvSpPr/>
          <p:nvPr/>
        </p:nvSpPr>
        <p:spPr>
          <a:xfrm>
            <a:off x="669012" y="1199317"/>
            <a:ext cx="3252549"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Descripción Detallada del Problema</a:t>
            </a:r>
            <a:endParaRPr lang="es-PE" sz="2000" noProof="0" dirty="0"/>
          </a:p>
        </p:txBody>
      </p:sp>
      <p:sp>
        <p:nvSpPr>
          <p:cNvPr id="4" name="Shape 2"/>
          <p:cNvSpPr/>
          <p:nvPr/>
        </p:nvSpPr>
        <p:spPr>
          <a:xfrm>
            <a:off x="669012"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5" name="Text 3"/>
          <p:cNvSpPr/>
          <p:nvPr/>
        </p:nvSpPr>
        <p:spPr>
          <a:xfrm>
            <a:off x="1290161"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Falta de Integración</a:t>
            </a:r>
            <a:endParaRPr lang="es-PE" sz="2000" noProof="0" dirty="0"/>
          </a:p>
        </p:txBody>
      </p:sp>
      <p:sp>
        <p:nvSpPr>
          <p:cNvPr id="6" name="Text 4"/>
          <p:cNvSpPr/>
          <p:nvPr/>
        </p:nvSpPr>
        <p:spPr>
          <a:xfrm>
            <a:off x="1290161" y="2263497"/>
            <a:ext cx="3650337"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La coexistencia de múltiples sistemas desconectados para inscripción, promociones y membresías es el núcleo del problema.</a:t>
            </a:r>
            <a:endParaRPr lang="es-PE" sz="1600" noProof="0" dirty="0"/>
          </a:p>
        </p:txBody>
      </p:sp>
      <p:sp>
        <p:nvSpPr>
          <p:cNvPr id="7" name="Shape 5"/>
          <p:cNvSpPr/>
          <p:nvPr/>
        </p:nvSpPr>
        <p:spPr>
          <a:xfrm>
            <a:off x="5179338"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8" name="Text 6"/>
          <p:cNvSpPr/>
          <p:nvPr/>
        </p:nvSpPr>
        <p:spPr>
          <a:xfrm>
            <a:off x="5800487"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Redundancia de Datos</a:t>
            </a:r>
            <a:endParaRPr lang="es-PE" sz="2000" noProof="0" dirty="0"/>
          </a:p>
        </p:txBody>
      </p:sp>
      <p:sp>
        <p:nvSpPr>
          <p:cNvPr id="9" name="Text 7"/>
          <p:cNvSpPr/>
          <p:nvPr/>
        </p:nvSpPr>
        <p:spPr>
          <a:xfrm>
            <a:off x="5800487" y="2263497"/>
            <a:ext cx="3650456"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Genera duplicación de información de clientes, impidiendo una visión centralizada y causando ineficiencias y inconsistencias.</a:t>
            </a:r>
            <a:endParaRPr lang="es-PE" sz="1600" noProof="0" dirty="0"/>
          </a:p>
        </p:txBody>
      </p:sp>
      <p:sp>
        <p:nvSpPr>
          <p:cNvPr id="10" name="Shape 8"/>
          <p:cNvSpPr/>
          <p:nvPr/>
        </p:nvSpPr>
        <p:spPr>
          <a:xfrm>
            <a:off x="9689783"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11" name="Text 9"/>
          <p:cNvSpPr/>
          <p:nvPr/>
        </p:nvSpPr>
        <p:spPr>
          <a:xfrm>
            <a:off x="10310932"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Marketing Ineficiente</a:t>
            </a:r>
            <a:endParaRPr lang="es-PE" sz="2000" noProof="0" dirty="0"/>
          </a:p>
        </p:txBody>
      </p:sp>
      <p:sp>
        <p:nvSpPr>
          <p:cNvPr id="12" name="Text 10"/>
          <p:cNvSpPr/>
          <p:nvPr/>
        </p:nvSpPr>
        <p:spPr>
          <a:xfrm>
            <a:off x="10310932" y="2263497"/>
            <a:ext cx="3650456"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La falta de un sistema centralizado dificulta la personalización de promociones, limitando la efectividad de las campañas y la retención.</a:t>
            </a:r>
            <a:endParaRPr lang="es-PE" sz="1600" noProof="0" dirty="0"/>
          </a:p>
        </p:txBody>
      </p:sp>
      <p:sp>
        <p:nvSpPr>
          <p:cNvPr id="14" name="Text 12"/>
          <p:cNvSpPr/>
          <p:nvPr/>
        </p:nvSpPr>
        <p:spPr>
          <a:xfrm>
            <a:off x="669012" y="3842504"/>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Objetivo General</a:t>
            </a:r>
            <a:endParaRPr lang="es-PE" sz="2000" noProof="0" dirty="0"/>
          </a:p>
        </p:txBody>
      </p:sp>
      <p:sp>
        <p:nvSpPr>
          <p:cNvPr id="15" name="Text 13"/>
          <p:cNvSpPr/>
          <p:nvPr/>
        </p:nvSpPr>
        <p:spPr>
          <a:xfrm>
            <a:off x="669012" y="4427815"/>
            <a:ext cx="13292376" cy="611505"/>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Desarrollar un sistema de información de gestión de clientes que permita mejorar las operaciones, enriquecer la experiencia del cliente y aprovechar los datos para la toma de decisiones estratégicas.</a:t>
            </a:r>
            <a:endParaRPr lang="es-PE" sz="1600" noProof="0" dirty="0"/>
          </a:p>
        </p:txBody>
      </p:sp>
      <p:sp>
        <p:nvSpPr>
          <p:cNvPr id="16" name="Text 14"/>
          <p:cNvSpPr/>
          <p:nvPr/>
        </p:nvSpPr>
        <p:spPr>
          <a:xfrm>
            <a:off x="669012" y="5326023"/>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Objetivos Específicos</a:t>
            </a:r>
            <a:endParaRPr lang="es-PE" sz="2000" noProof="0" dirty="0"/>
          </a:p>
        </p:txBody>
      </p:sp>
      <p:sp>
        <p:nvSpPr>
          <p:cNvPr id="17" name="Text 15"/>
          <p:cNvSpPr/>
          <p:nvPr/>
        </p:nvSpPr>
        <p:spPr>
          <a:xfrm>
            <a:off x="669012" y="5911334"/>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Mejorar la seguridad de los datos.</a:t>
            </a:r>
            <a:endParaRPr lang="es-PE" sz="1600" noProof="0" dirty="0"/>
          </a:p>
        </p:txBody>
      </p:sp>
      <p:sp>
        <p:nvSpPr>
          <p:cNvPr id="18" name="Text 16"/>
          <p:cNvSpPr/>
          <p:nvPr/>
        </p:nvSpPr>
        <p:spPr>
          <a:xfrm>
            <a:off x="669012" y="6283881"/>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Lograr una gestión unificada de la información del cliente.</a:t>
            </a:r>
            <a:endParaRPr lang="es-PE" sz="1600" noProof="0" dirty="0"/>
          </a:p>
        </p:txBody>
      </p:sp>
      <p:sp>
        <p:nvSpPr>
          <p:cNvPr id="19" name="Text 17"/>
          <p:cNvSpPr/>
          <p:nvPr/>
        </p:nvSpPr>
        <p:spPr>
          <a:xfrm>
            <a:off x="669012" y="6656427"/>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Aumentar la efectividad de campañas de marketing y la satisfacción del cliente.</a:t>
            </a:r>
            <a:endParaRPr lang="es-PE" sz="1600" noProof="0" dirty="0"/>
          </a:p>
        </p:txBody>
      </p:sp>
      <p:sp>
        <p:nvSpPr>
          <p:cNvPr id="20" name="Text 18"/>
          <p:cNvSpPr/>
          <p:nvPr/>
        </p:nvSpPr>
        <p:spPr>
          <a:xfrm>
            <a:off x="669012" y="7028974"/>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Garantizar la facilidad de uso del sistema.</a:t>
            </a:r>
            <a:endParaRPr lang="es-PE" sz="1600" noProof="0" dirty="0"/>
          </a:p>
        </p:txBody>
      </p:sp>
      <p:sp>
        <p:nvSpPr>
          <p:cNvPr id="21" name="Text 19"/>
          <p:cNvSpPr/>
          <p:nvPr/>
        </p:nvSpPr>
        <p:spPr>
          <a:xfrm>
            <a:off x="669012" y="7401520"/>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Evolucionar a una empresa data-driven para decisiones en tiempo real.</a:t>
            </a:r>
            <a:endParaRPr lang="es-PE" sz="16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1" name="Shape 3">
            <a:extLst>
              <a:ext uri="{FF2B5EF4-FFF2-40B4-BE49-F238E27FC236}">
                <a16:creationId xmlns:a16="http://schemas.microsoft.com/office/drawing/2014/main" id="{7E999FBD-6D2E-9A3B-F4C1-BFB97A1EC3B8}"/>
              </a:ext>
            </a:extLst>
          </p:cNvPr>
          <p:cNvSpPr/>
          <p:nvPr/>
        </p:nvSpPr>
        <p:spPr>
          <a:xfrm>
            <a:off x="8132019" y="2929168"/>
            <a:ext cx="3911279" cy="199754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20" name="Shape 3">
            <a:extLst>
              <a:ext uri="{FF2B5EF4-FFF2-40B4-BE49-F238E27FC236}">
                <a16:creationId xmlns:a16="http://schemas.microsoft.com/office/drawing/2014/main" id="{EBF8AE66-CE0C-5175-FC21-3C14854C1C4F}"/>
              </a:ext>
            </a:extLst>
          </p:cNvPr>
          <p:cNvSpPr/>
          <p:nvPr/>
        </p:nvSpPr>
        <p:spPr>
          <a:xfrm>
            <a:off x="2818650" y="1930396"/>
            <a:ext cx="3911279" cy="199754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2" name="Text 0"/>
          <p:cNvSpPr/>
          <p:nvPr/>
        </p:nvSpPr>
        <p:spPr>
          <a:xfrm>
            <a:off x="1043597" y="655752"/>
            <a:ext cx="3911279" cy="518875"/>
          </a:xfrm>
          <a:prstGeom prst="rect">
            <a:avLst/>
          </a:prstGeom>
          <a:noFill/>
          <a:ln/>
        </p:spPr>
        <p:txBody>
          <a:bodyPr wrap="none" lIns="0" tIns="0" rIns="0" bIns="0" rtlCol="0" anchor="t"/>
          <a:lstStyle/>
          <a:p>
            <a:pPr marL="0" indent="0" algn="l">
              <a:lnSpc>
                <a:spcPts val="3350"/>
              </a:lnSpc>
              <a:buNone/>
            </a:pPr>
            <a:r>
              <a:rPr lang="es-PE" sz="4000" b="1" noProof="0" dirty="0">
                <a:solidFill>
                  <a:srgbClr val="666666"/>
                </a:solidFill>
                <a:latin typeface="Staatliches Bold" pitchFamily="34" charset="0"/>
                <a:ea typeface="Staatliches Bold" pitchFamily="34" charset="-122"/>
                <a:cs typeface="Staatliches Bold" pitchFamily="34" charset="-120"/>
              </a:rPr>
              <a:t>Stakeholders, Competencias y Roles del Equipo</a:t>
            </a:r>
            <a:endParaRPr lang="es-PE" sz="4000" noProof="0" dirty="0"/>
          </a:p>
        </p:txBody>
      </p:sp>
      <p:sp>
        <p:nvSpPr>
          <p:cNvPr id="3" name="Text 1"/>
          <p:cNvSpPr/>
          <p:nvPr/>
        </p:nvSpPr>
        <p:spPr>
          <a:xfrm>
            <a:off x="1835332" y="1236408"/>
            <a:ext cx="1141461"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Stakeholders del Proyecto</a:t>
            </a:r>
            <a:endParaRPr lang="es-PE" sz="2000" noProof="0" dirty="0"/>
          </a:p>
        </p:txBody>
      </p:sp>
      <p:sp>
        <p:nvSpPr>
          <p:cNvPr id="4" name="Text 2"/>
          <p:cNvSpPr/>
          <p:nvPr/>
        </p:nvSpPr>
        <p:spPr>
          <a:xfrm>
            <a:off x="3178830" y="2113014"/>
            <a:ext cx="1113218"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Internos</a:t>
            </a:r>
            <a:endParaRPr lang="es-PE" sz="2000" noProof="0" dirty="0"/>
          </a:p>
        </p:txBody>
      </p:sp>
      <p:sp>
        <p:nvSpPr>
          <p:cNvPr id="5" name="Text 3"/>
          <p:cNvSpPr/>
          <p:nvPr/>
        </p:nvSpPr>
        <p:spPr>
          <a:xfrm>
            <a:off x="3178831" y="246210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Gerente o Director de Proyecto</a:t>
            </a:r>
            <a:endParaRPr lang="es-PE" sz="1600" noProof="0" dirty="0"/>
          </a:p>
        </p:txBody>
      </p:sp>
      <p:sp>
        <p:nvSpPr>
          <p:cNvPr id="6" name="Text 4"/>
          <p:cNvSpPr/>
          <p:nvPr/>
        </p:nvSpPr>
        <p:spPr>
          <a:xfrm>
            <a:off x="3178831" y="2727854"/>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Miembros del Equipo del Proyecto</a:t>
            </a:r>
            <a:endParaRPr lang="es-PE" sz="1600" noProof="0" dirty="0"/>
          </a:p>
        </p:txBody>
      </p:sp>
      <p:sp>
        <p:nvSpPr>
          <p:cNvPr id="7" name="Text 5"/>
          <p:cNvSpPr/>
          <p:nvPr/>
        </p:nvSpPr>
        <p:spPr>
          <a:xfrm>
            <a:off x="3178831" y="2993602"/>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Gerente del Portafolio</a:t>
            </a:r>
            <a:endParaRPr lang="es-PE" sz="1600" noProof="0" dirty="0"/>
          </a:p>
        </p:txBody>
      </p:sp>
      <p:sp>
        <p:nvSpPr>
          <p:cNvPr id="8" name="Text 6"/>
          <p:cNvSpPr/>
          <p:nvPr/>
        </p:nvSpPr>
        <p:spPr>
          <a:xfrm>
            <a:off x="3178831" y="3259349"/>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Patrocinador del Proyecto</a:t>
            </a:r>
            <a:endParaRPr lang="es-PE" sz="1600" noProof="0" dirty="0"/>
          </a:p>
        </p:txBody>
      </p:sp>
      <p:sp>
        <p:nvSpPr>
          <p:cNvPr id="9" name="Text 7"/>
          <p:cNvSpPr/>
          <p:nvPr/>
        </p:nvSpPr>
        <p:spPr>
          <a:xfrm>
            <a:off x="3178831" y="352509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Líderes Ejecutivos</a:t>
            </a:r>
            <a:endParaRPr lang="es-PE" sz="1600" noProof="0" dirty="0"/>
          </a:p>
        </p:txBody>
      </p:sp>
      <p:sp>
        <p:nvSpPr>
          <p:cNvPr id="10" name="Text 8"/>
          <p:cNvSpPr/>
          <p:nvPr/>
        </p:nvSpPr>
        <p:spPr>
          <a:xfrm>
            <a:off x="8466264" y="3209994"/>
            <a:ext cx="1113218"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Externos</a:t>
            </a:r>
            <a:endParaRPr lang="es-PE" sz="2000" noProof="0" dirty="0"/>
          </a:p>
        </p:txBody>
      </p:sp>
      <p:sp>
        <p:nvSpPr>
          <p:cNvPr id="11" name="Text 9"/>
          <p:cNvSpPr/>
          <p:nvPr/>
        </p:nvSpPr>
        <p:spPr>
          <a:xfrm>
            <a:off x="8466265" y="355908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Clientes</a:t>
            </a:r>
            <a:endParaRPr lang="es-PE" sz="1600" noProof="0" dirty="0"/>
          </a:p>
        </p:txBody>
      </p:sp>
      <p:sp>
        <p:nvSpPr>
          <p:cNvPr id="12" name="Text 10"/>
          <p:cNvSpPr/>
          <p:nvPr/>
        </p:nvSpPr>
        <p:spPr>
          <a:xfrm>
            <a:off x="8466265" y="3824834"/>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Contratistas</a:t>
            </a:r>
            <a:endParaRPr lang="es-PE" sz="1600" noProof="0" dirty="0"/>
          </a:p>
        </p:txBody>
      </p:sp>
      <p:sp>
        <p:nvSpPr>
          <p:cNvPr id="13" name="Text 11"/>
          <p:cNvSpPr/>
          <p:nvPr/>
        </p:nvSpPr>
        <p:spPr>
          <a:xfrm>
            <a:off x="8466265" y="4090582"/>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Inversionistas</a:t>
            </a:r>
            <a:endParaRPr lang="es-PE" sz="1600" noProof="0" dirty="0"/>
          </a:p>
        </p:txBody>
      </p:sp>
      <p:sp>
        <p:nvSpPr>
          <p:cNvPr id="14" name="Text 12"/>
          <p:cNvSpPr/>
          <p:nvPr/>
        </p:nvSpPr>
        <p:spPr>
          <a:xfrm>
            <a:off x="8466265" y="4356329"/>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Proveedores</a:t>
            </a:r>
            <a:endParaRPr lang="es-PE" sz="1600" noProof="0" dirty="0"/>
          </a:p>
        </p:txBody>
      </p:sp>
      <p:sp>
        <p:nvSpPr>
          <p:cNvPr id="15" name="Text 13"/>
          <p:cNvSpPr/>
          <p:nvPr/>
        </p:nvSpPr>
        <p:spPr>
          <a:xfrm>
            <a:off x="1757267" y="5637280"/>
            <a:ext cx="2593062" cy="212884"/>
          </a:xfrm>
          <a:prstGeom prst="rect">
            <a:avLst/>
          </a:prstGeom>
          <a:noFill/>
          <a:ln/>
        </p:spPr>
        <p:txBody>
          <a:bodyPr wrap="none" lIns="0" tIns="0" rIns="0" bIns="0" rtlCol="0" anchor="t"/>
          <a:lstStyle/>
          <a:p>
            <a:pPr marL="0" indent="0" algn="l">
              <a:lnSpc>
                <a:spcPts val="1650"/>
              </a:lnSpc>
              <a:buNone/>
            </a:pPr>
            <a:r>
              <a:rPr lang="es-PE" sz="4000" b="1" noProof="0" dirty="0">
                <a:solidFill>
                  <a:srgbClr val="666666"/>
                </a:solidFill>
                <a:latin typeface="Staatliches Bold" pitchFamily="34" charset="0"/>
                <a:ea typeface="Staatliches Bold" pitchFamily="34" charset="-122"/>
                <a:cs typeface="Staatliches Bold" pitchFamily="34" charset="-120"/>
              </a:rPr>
              <a:t>Competencias y Conocimientos del Equipo</a:t>
            </a:r>
            <a:endParaRPr lang="es-PE" sz="4000" noProof="0" dirty="0"/>
          </a:p>
        </p:txBody>
      </p:sp>
      <p:sp>
        <p:nvSpPr>
          <p:cNvPr id="16" name="Text 14"/>
          <p:cNvSpPr/>
          <p:nvPr/>
        </p:nvSpPr>
        <p:spPr>
          <a:xfrm>
            <a:off x="1931285" y="6057579"/>
            <a:ext cx="1934885" cy="212884"/>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Saberes Previos (Fundamento)</a:t>
            </a:r>
            <a:endParaRPr lang="es-PE" sz="2000" noProof="0" dirty="0"/>
          </a:p>
        </p:txBody>
      </p:sp>
      <p:sp>
        <p:nvSpPr>
          <p:cNvPr id="17" name="Text 15"/>
          <p:cNvSpPr/>
          <p:nvPr/>
        </p:nvSpPr>
        <p:spPr>
          <a:xfrm>
            <a:off x="1875670" y="6539893"/>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Fundamentos de Desarrollo de Software</a:t>
            </a:r>
            <a:endParaRPr lang="es-PE" sz="1600" noProof="0" dirty="0"/>
          </a:p>
        </p:txBody>
      </p:sp>
      <p:sp>
        <p:nvSpPr>
          <p:cNvPr id="18" name="Text 16"/>
          <p:cNvSpPr/>
          <p:nvPr/>
        </p:nvSpPr>
        <p:spPr>
          <a:xfrm>
            <a:off x="1875670" y="6805641"/>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Conocimiento de Bases de Datos Relacionales</a:t>
            </a:r>
            <a:endParaRPr lang="es-PE" sz="1600" noProof="0" dirty="0"/>
          </a:p>
        </p:txBody>
      </p:sp>
      <p:sp>
        <p:nvSpPr>
          <p:cNvPr id="19" name="Text 17"/>
          <p:cNvSpPr/>
          <p:nvPr/>
        </p:nvSpPr>
        <p:spPr>
          <a:xfrm>
            <a:off x="1875670" y="7071388"/>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Diseño de Experiencia de Usuario (UX/UI)</a:t>
            </a:r>
            <a:endParaRPr lang="es-PE" sz="16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9444-74D9-FB2B-F552-2ADFE718AD41}"/>
            </a:ext>
          </a:extLst>
        </p:cNvPr>
        <p:cNvGrpSpPr/>
        <p:nvPr/>
      </p:nvGrpSpPr>
      <p:grpSpPr>
        <a:xfrm>
          <a:off x="0" y="0"/>
          <a:ext cx="0" cy="0"/>
          <a:chOff x="0" y="0"/>
          <a:chExt cx="0" cy="0"/>
        </a:xfrm>
      </p:grpSpPr>
      <p:sp>
        <p:nvSpPr>
          <p:cNvPr id="2" name="Shape 3">
            <a:extLst>
              <a:ext uri="{FF2B5EF4-FFF2-40B4-BE49-F238E27FC236}">
                <a16:creationId xmlns:a16="http://schemas.microsoft.com/office/drawing/2014/main" id="{B3C4CC3E-B868-6B27-A675-04CA5CBB452A}"/>
              </a:ext>
            </a:extLst>
          </p:cNvPr>
          <p:cNvSpPr/>
          <p:nvPr/>
        </p:nvSpPr>
        <p:spPr>
          <a:xfrm>
            <a:off x="4442894" y="1791147"/>
            <a:ext cx="5744612" cy="1832708"/>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5" name="Text 13">
            <a:extLst>
              <a:ext uri="{FF2B5EF4-FFF2-40B4-BE49-F238E27FC236}">
                <a16:creationId xmlns:a16="http://schemas.microsoft.com/office/drawing/2014/main" id="{58F11A72-EBB9-B2FF-AB95-9DA18E92174E}"/>
              </a:ext>
            </a:extLst>
          </p:cNvPr>
          <p:cNvSpPr/>
          <p:nvPr/>
        </p:nvSpPr>
        <p:spPr>
          <a:xfrm>
            <a:off x="2590348" y="1085355"/>
            <a:ext cx="5661437" cy="212885"/>
          </a:xfrm>
          <a:prstGeom prst="rect">
            <a:avLst/>
          </a:prstGeom>
          <a:noFill/>
          <a:ln/>
        </p:spPr>
        <p:txBody>
          <a:bodyPr wrap="none" lIns="0" tIns="0" rIns="0" bIns="0" rtlCol="0" anchor="t"/>
          <a:lstStyle/>
          <a:p>
            <a:pPr marL="0" indent="0" algn="ctr">
              <a:lnSpc>
                <a:spcPts val="1650"/>
              </a:lnSpc>
              <a:buNone/>
            </a:pPr>
            <a:r>
              <a:rPr lang="es-PE" sz="3600" b="1" noProof="0" dirty="0">
                <a:solidFill>
                  <a:srgbClr val="666666"/>
                </a:solidFill>
                <a:latin typeface="Staatliches Bold" pitchFamily="34" charset="0"/>
                <a:ea typeface="Staatliches Bold" pitchFamily="34" charset="-122"/>
                <a:cs typeface="Staatliches Bold" pitchFamily="34" charset="-120"/>
              </a:rPr>
              <a:t>Competencias y Conocimientos del Equipo</a:t>
            </a:r>
            <a:endParaRPr lang="es-PE" sz="3600" noProof="0" dirty="0"/>
          </a:p>
        </p:txBody>
      </p:sp>
      <p:sp>
        <p:nvSpPr>
          <p:cNvPr id="20" name="Text 18">
            <a:extLst>
              <a:ext uri="{FF2B5EF4-FFF2-40B4-BE49-F238E27FC236}">
                <a16:creationId xmlns:a16="http://schemas.microsoft.com/office/drawing/2014/main" id="{55897FB8-7F8A-EC64-B876-B51F060A7F13}"/>
              </a:ext>
            </a:extLst>
          </p:cNvPr>
          <p:cNvSpPr/>
          <p:nvPr/>
        </p:nvSpPr>
        <p:spPr>
          <a:xfrm>
            <a:off x="4807279" y="2109511"/>
            <a:ext cx="4998008" cy="144661"/>
          </a:xfrm>
          <a:prstGeom prst="rect">
            <a:avLst/>
          </a:prstGeom>
          <a:noFill/>
          <a:ln/>
        </p:spPr>
        <p:txBody>
          <a:bodyPr wrap="none" lIns="0" tIns="0" rIns="0" bIns="0" rtlCol="0" anchor="t"/>
          <a:lstStyle/>
          <a:p>
            <a:pPr marL="0" indent="0" algn="l">
              <a:lnSpc>
                <a:spcPts val="1650"/>
              </a:lnSpc>
              <a:buNone/>
            </a:pPr>
            <a:r>
              <a:rPr lang="es-PE" sz="2400" b="1" noProof="0" dirty="0">
                <a:solidFill>
                  <a:srgbClr val="666666"/>
                </a:solidFill>
                <a:latin typeface="Staatliches Bold" pitchFamily="34" charset="0"/>
                <a:ea typeface="Staatliches Bold" pitchFamily="34" charset="-122"/>
                <a:cs typeface="Staatliches Bold" pitchFamily="34" charset="-120"/>
              </a:rPr>
              <a:t>Conocimientos a Reforzar (Especialización)</a:t>
            </a:r>
            <a:endParaRPr lang="es-PE" sz="2400" noProof="0" dirty="0"/>
          </a:p>
        </p:txBody>
      </p:sp>
      <p:sp>
        <p:nvSpPr>
          <p:cNvPr id="21" name="Text 19">
            <a:extLst>
              <a:ext uri="{FF2B5EF4-FFF2-40B4-BE49-F238E27FC236}">
                <a16:creationId xmlns:a16="http://schemas.microsoft.com/office/drawing/2014/main" id="{C6672B30-7729-216F-906A-80477F773772}"/>
              </a:ext>
            </a:extLst>
          </p:cNvPr>
          <p:cNvSpPr/>
          <p:nvPr/>
        </p:nvSpPr>
        <p:spPr>
          <a:xfrm>
            <a:off x="4807279" y="2458602"/>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Lenguajes de Programación: Python.</a:t>
            </a:r>
            <a:endParaRPr lang="es-PE" noProof="0" dirty="0"/>
          </a:p>
        </p:txBody>
      </p:sp>
      <p:sp>
        <p:nvSpPr>
          <p:cNvPr id="23" name="Text 21">
            <a:extLst>
              <a:ext uri="{FF2B5EF4-FFF2-40B4-BE49-F238E27FC236}">
                <a16:creationId xmlns:a16="http://schemas.microsoft.com/office/drawing/2014/main" id="{EDB2DAF9-17F9-04DA-E442-FA96C452AA15}"/>
              </a:ext>
            </a:extLst>
          </p:cNvPr>
          <p:cNvSpPr/>
          <p:nvPr/>
        </p:nvSpPr>
        <p:spPr>
          <a:xfrm>
            <a:off x="4807279" y="2845134"/>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DBMS: MySQL, SQL Server.</a:t>
            </a:r>
            <a:endParaRPr lang="es-PE" noProof="0" dirty="0"/>
          </a:p>
        </p:txBody>
      </p:sp>
      <p:sp>
        <p:nvSpPr>
          <p:cNvPr id="24" name="Text 22">
            <a:extLst>
              <a:ext uri="{FF2B5EF4-FFF2-40B4-BE49-F238E27FC236}">
                <a16:creationId xmlns:a16="http://schemas.microsoft.com/office/drawing/2014/main" id="{48C6EFE5-8DF5-65CD-8BB4-8227D0A52EB9}"/>
              </a:ext>
            </a:extLst>
          </p:cNvPr>
          <p:cNvSpPr/>
          <p:nvPr/>
        </p:nvSpPr>
        <p:spPr>
          <a:xfrm>
            <a:off x="4807279" y="3255845"/>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Metodología de desarrollo RUP</a:t>
            </a:r>
            <a:endParaRPr lang="es-PE" noProof="0" dirty="0"/>
          </a:p>
        </p:txBody>
      </p:sp>
      <p:sp>
        <p:nvSpPr>
          <p:cNvPr id="25" name="Text 23">
            <a:extLst>
              <a:ext uri="{FF2B5EF4-FFF2-40B4-BE49-F238E27FC236}">
                <a16:creationId xmlns:a16="http://schemas.microsoft.com/office/drawing/2014/main" id="{33591C1B-E860-5C49-A23D-880093C72B95}"/>
              </a:ext>
            </a:extLst>
          </p:cNvPr>
          <p:cNvSpPr/>
          <p:nvPr/>
        </p:nvSpPr>
        <p:spPr>
          <a:xfrm>
            <a:off x="2077393" y="4748026"/>
            <a:ext cx="2368987" cy="212884"/>
          </a:xfrm>
          <a:prstGeom prst="rect">
            <a:avLst/>
          </a:prstGeom>
          <a:noFill/>
          <a:ln/>
        </p:spPr>
        <p:txBody>
          <a:bodyPr wrap="none" lIns="0" tIns="0" rIns="0" bIns="0" rtlCol="0" anchor="t"/>
          <a:lstStyle/>
          <a:p>
            <a:pPr marL="0" indent="0" algn="l">
              <a:lnSpc>
                <a:spcPts val="1650"/>
              </a:lnSpc>
              <a:buNone/>
            </a:pPr>
            <a:r>
              <a:rPr lang="es-PE" sz="3600" b="1" noProof="0" dirty="0">
                <a:solidFill>
                  <a:srgbClr val="666666"/>
                </a:solidFill>
                <a:latin typeface="Staatliches Bold" pitchFamily="34" charset="0"/>
                <a:ea typeface="Staatliches Bold" pitchFamily="34" charset="-122"/>
                <a:cs typeface="Staatliches Bold" pitchFamily="34" charset="-120"/>
              </a:rPr>
              <a:t>Roles y Responsabilidades del Equipo</a:t>
            </a:r>
            <a:endParaRPr lang="es-PE" sz="3600" noProof="0" dirty="0"/>
          </a:p>
        </p:txBody>
      </p:sp>
      <p:sp>
        <p:nvSpPr>
          <p:cNvPr id="26" name="Shape 24">
            <a:extLst>
              <a:ext uri="{FF2B5EF4-FFF2-40B4-BE49-F238E27FC236}">
                <a16:creationId xmlns:a16="http://schemas.microsoft.com/office/drawing/2014/main" id="{95AF3D05-B499-E8E6-C695-0C854215C589}"/>
              </a:ext>
            </a:extLst>
          </p:cNvPr>
          <p:cNvSpPr/>
          <p:nvPr/>
        </p:nvSpPr>
        <p:spPr>
          <a:xfrm>
            <a:off x="2850806" y="5376545"/>
            <a:ext cx="9266812" cy="1998821"/>
          </a:xfrm>
          <a:prstGeom prst="roundRect">
            <a:avLst>
              <a:gd name="adj" fmla="val 2864"/>
            </a:avLst>
          </a:prstGeom>
          <a:noFill/>
          <a:ln w="7620">
            <a:solidFill>
              <a:srgbClr val="000000">
                <a:alpha val="8000"/>
              </a:srgbClr>
            </a:solidFill>
            <a:prstDash val="solid"/>
          </a:ln>
        </p:spPr>
        <p:txBody>
          <a:bodyPr/>
          <a:lstStyle/>
          <a:p>
            <a:endParaRPr lang="es-PE" sz="3200" noProof="0" dirty="0"/>
          </a:p>
        </p:txBody>
      </p:sp>
      <p:sp>
        <p:nvSpPr>
          <p:cNvPr id="27" name="Shape 25">
            <a:extLst>
              <a:ext uri="{FF2B5EF4-FFF2-40B4-BE49-F238E27FC236}">
                <a16:creationId xmlns:a16="http://schemas.microsoft.com/office/drawing/2014/main" id="{BC5D46F3-A3A4-C4F4-78F4-7462942119D5}"/>
              </a:ext>
            </a:extLst>
          </p:cNvPr>
          <p:cNvSpPr/>
          <p:nvPr/>
        </p:nvSpPr>
        <p:spPr>
          <a:xfrm>
            <a:off x="2858426" y="5384165"/>
            <a:ext cx="9259191" cy="396716"/>
          </a:xfrm>
          <a:prstGeom prst="rect">
            <a:avLst/>
          </a:prstGeom>
          <a:solidFill>
            <a:srgbClr val="FFFFFF">
              <a:alpha val="4000"/>
            </a:srgbClr>
          </a:solidFill>
          <a:ln/>
        </p:spPr>
        <p:txBody>
          <a:bodyPr/>
          <a:lstStyle/>
          <a:p>
            <a:endParaRPr lang="es-PE" sz="3200" noProof="0" dirty="0"/>
          </a:p>
        </p:txBody>
      </p:sp>
      <p:sp>
        <p:nvSpPr>
          <p:cNvPr id="28" name="Text 26">
            <a:extLst>
              <a:ext uri="{FF2B5EF4-FFF2-40B4-BE49-F238E27FC236}">
                <a16:creationId xmlns:a16="http://schemas.microsoft.com/office/drawing/2014/main" id="{D56A8C9D-6211-2A40-23FB-B59D7F53D536}"/>
              </a:ext>
            </a:extLst>
          </p:cNvPr>
          <p:cNvSpPr/>
          <p:nvPr/>
        </p:nvSpPr>
        <p:spPr>
          <a:xfrm>
            <a:off x="2994752" y="5473462"/>
            <a:ext cx="5112068" cy="218123"/>
          </a:xfrm>
          <a:prstGeom prst="rect">
            <a:avLst/>
          </a:prstGeom>
          <a:noFill/>
          <a:ln/>
        </p:spPr>
        <p:txBody>
          <a:bodyPr wrap="none" lIns="0" tIns="0" rIns="0" bIns="0" rtlCol="0" anchor="t"/>
          <a:lstStyle/>
          <a:p>
            <a:pPr marL="0" indent="0" algn="l">
              <a:lnSpc>
                <a:spcPts val="1700"/>
              </a:lnSpc>
              <a:buNone/>
            </a:pPr>
            <a:r>
              <a:rPr lang="es-PE" sz="1600" b="1" noProof="0" dirty="0">
                <a:solidFill>
                  <a:srgbClr val="666666"/>
                </a:solidFill>
                <a:latin typeface="Abel" pitchFamily="34" charset="0"/>
                <a:ea typeface="Abel" pitchFamily="34" charset="-122"/>
                <a:cs typeface="Abel" pitchFamily="34" charset="-120"/>
              </a:rPr>
              <a:t>Integrante</a:t>
            </a:r>
            <a:endParaRPr lang="es-PE" sz="1600" noProof="0" dirty="0"/>
          </a:p>
        </p:txBody>
      </p:sp>
      <p:sp>
        <p:nvSpPr>
          <p:cNvPr id="29" name="Text 27">
            <a:extLst>
              <a:ext uri="{FF2B5EF4-FFF2-40B4-BE49-F238E27FC236}">
                <a16:creationId xmlns:a16="http://schemas.microsoft.com/office/drawing/2014/main" id="{F7B1AD90-D917-E7B5-26E1-7BC4D64C2024}"/>
              </a:ext>
            </a:extLst>
          </p:cNvPr>
          <p:cNvSpPr/>
          <p:nvPr/>
        </p:nvSpPr>
        <p:spPr>
          <a:xfrm>
            <a:off x="8386854" y="5511324"/>
            <a:ext cx="3730763" cy="180261"/>
          </a:xfrm>
          <a:prstGeom prst="rect">
            <a:avLst/>
          </a:prstGeom>
          <a:noFill/>
          <a:ln/>
        </p:spPr>
        <p:txBody>
          <a:bodyPr wrap="none" lIns="0" tIns="0" rIns="0" bIns="0" rtlCol="0" anchor="t"/>
          <a:lstStyle/>
          <a:p>
            <a:pPr marL="0" indent="0" algn="l">
              <a:lnSpc>
                <a:spcPts val="1700"/>
              </a:lnSpc>
              <a:buNone/>
            </a:pPr>
            <a:r>
              <a:rPr lang="es-PE" sz="1600" b="1" noProof="0" dirty="0">
                <a:solidFill>
                  <a:srgbClr val="666666"/>
                </a:solidFill>
                <a:latin typeface="Abel" pitchFamily="34" charset="0"/>
                <a:ea typeface="Abel" pitchFamily="34" charset="-122"/>
                <a:cs typeface="Abel" pitchFamily="34" charset="-120"/>
              </a:rPr>
              <a:t>Rol en el Proyecto</a:t>
            </a:r>
            <a:endParaRPr lang="es-PE" sz="1600" noProof="0" dirty="0"/>
          </a:p>
        </p:txBody>
      </p:sp>
      <p:sp>
        <p:nvSpPr>
          <p:cNvPr id="30" name="Shape 28">
            <a:extLst>
              <a:ext uri="{FF2B5EF4-FFF2-40B4-BE49-F238E27FC236}">
                <a16:creationId xmlns:a16="http://schemas.microsoft.com/office/drawing/2014/main" id="{B4C445AB-D602-79E6-D482-0A79D0C6202A}"/>
              </a:ext>
            </a:extLst>
          </p:cNvPr>
          <p:cNvSpPr/>
          <p:nvPr/>
        </p:nvSpPr>
        <p:spPr>
          <a:xfrm>
            <a:off x="2858426" y="5780881"/>
            <a:ext cx="9259191" cy="396716"/>
          </a:xfrm>
          <a:prstGeom prst="rect">
            <a:avLst/>
          </a:prstGeom>
          <a:solidFill>
            <a:srgbClr val="000000">
              <a:alpha val="4000"/>
            </a:srgbClr>
          </a:solidFill>
          <a:ln/>
        </p:spPr>
        <p:txBody>
          <a:bodyPr/>
          <a:lstStyle/>
          <a:p>
            <a:endParaRPr lang="es-PE" sz="3200" noProof="0" dirty="0"/>
          </a:p>
        </p:txBody>
      </p:sp>
      <p:sp>
        <p:nvSpPr>
          <p:cNvPr id="31" name="Text 29">
            <a:extLst>
              <a:ext uri="{FF2B5EF4-FFF2-40B4-BE49-F238E27FC236}">
                <a16:creationId xmlns:a16="http://schemas.microsoft.com/office/drawing/2014/main" id="{AAFBB6E4-95C7-987A-8E77-C00D7C163AEA}"/>
              </a:ext>
            </a:extLst>
          </p:cNvPr>
          <p:cNvSpPr/>
          <p:nvPr/>
        </p:nvSpPr>
        <p:spPr>
          <a:xfrm>
            <a:off x="2994752" y="5870178"/>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Gabriel Alzamora Yarleque</a:t>
            </a:r>
            <a:endParaRPr lang="es-PE" sz="1600" noProof="0" dirty="0"/>
          </a:p>
        </p:txBody>
      </p:sp>
      <p:sp>
        <p:nvSpPr>
          <p:cNvPr id="32" name="Text 30">
            <a:extLst>
              <a:ext uri="{FF2B5EF4-FFF2-40B4-BE49-F238E27FC236}">
                <a16:creationId xmlns:a16="http://schemas.microsoft.com/office/drawing/2014/main" id="{8A1625DA-EA2B-CDCF-BB55-D3864A45A700}"/>
              </a:ext>
            </a:extLst>
          </p:cNvPr>
          <p:cNvSpPr/>
          <p:nvPr/>
        </p:nvSpPr>
        <p:spPr>
          <a:xfrm>
            <a:off x="8386854" y="5908040"/>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Líder del Proyecto y Documentador</a:t>
            </a:r>
            <a:endParaRPr lang="es-PE" sz="1600" noProof="0" dirty="0"/>
          </a:p>
        </p:txBody>
      </p:sp>
      <p:sp>
        <p:nvSpPr>
          <p:cNvPr id="33" name="Shape 31">
            <a:extLst>
              <a:ext uri="{FF2B5EF4-FFF2-40B4-BE49-F238E27FC236}">
                <a16:creationId xmlns:a16="http://schemas.microsoft.com/office/drawing/2014/main" id="{CF10B1EB-93B9-D282-182E-BEA523A564B5}"/>
              </a:ext>
            </a:extLst>
          </p:cNvPr>
          <p:cNvSpPr/>
          <p:nvPr/>
        </p:nvSpPr>
        <p:spPr>
          <a:xfrm>
            <a:off x="2858426" y="6177597"/>
            <a:ext cx="9259191" cy="396716"/>
          </a:xfrm>
          <a:prstGeom prst="rect">
            <a:avLst/>
          </a:prstGeom>
          <a:solidFill>
            <a:srgbClr val="FFFFFF">
              <a:alpha val="4000"/>
            </a:srgbClr>
          </a:solidFill>
          <a:ln/>
        </p:spPr>
        <p:txBody>
          <a:bodyPr/>
          <a:lstStyle/>
          <a:p>
            <a:endParaRPr lang="es-PE" sz="3200" noProof="0" dirty="0"/>
          </a:p>
        </p:txBody>
      </p:sp>
      <p:sp>
        <p:nvSpPr>
          <p:cNvPr id="34" name="Text 32">
            <a:extLst>
              <a:ext uri="{FF2B5EF4-FFF2-40B4-BE49-F238E27FC236}">
                <a16:creationId xmlns:a16="http://schemas.microsoft.com/office/drawing/2014/main" id="{F62CDA4D-91BC-DC84-49CA-95DB39DF45F4}"/>
              </a:ext>
            </a:extLst>
          </p:cNvPr>
          <p:cNvSpPr/>
          <p:nvPr/>
        </p:nvSpPr>
        <p:spPr>
          <a:xfrm>
            <a:off x="2994752" y="6266894"/>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Kevin Dioses Lopez</a:t>
            </a:r>
            <a:endParaRPr lang="es-PE" sz="1600" noProof="0" dirty="0"/>
          </a:p>
        </p:txBody>
      </p:sp>
      <p:sp>
        <p:nvSpPr>
          <p:cNvPr id="35" name="Text 33">
            <a:extLst>
              <a:ext uri="{FF2B5EF4-FFF2-40B4-BE49-F238E27FC236}">
                <a16:creationId xmlns:a16="http://schemas.microsoft.com/office/drawing/2014/main" id="{55A1EB0D-1234-A506-62E2-8C37C25F0E2A}"/>
              </a:ext>
            </a:extLst>
          </p:cNvPr>
          <p:cNvSpPr/>
          <p:nvPr/>
        </p:nvSpPr>
        <p:spPr>
          <a:xfrm>
            <a:off x="8386854" y="6327058"/>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Desarrollador Front-end</a:t>
            </a:r>
            <a:endParaRPr lang="es-PE" sz="1600" noProof="0" dirty="0"/>
          </a:p>
        </p:txBody>
      </p:sp>
      <p:sp>
        <p:nvSpPr>
          <p:cNvPr id="36" name="Shape 34">
            <a:extLst>
              <a:ext uri="{FF2B5EF4-FFF2-40B4-BE49-F238E27FC236}">
                <a16:creationId xmlns:a16="http://schemas.microsoft.com/office/drawing/2014/main" id="{192F98AB-3BC7-39D1-583A-E6E7893806B6}"/>
              </a:ext>
            </a:extLst>
          </p:cNvPr>
          <p:cNvSpPr/>
          <p:nvPr/>
        </p:nvSpPr>
        <p:spPr>
          <a:xfrm>
            <a:off x="2858426" y="6574313"/>
            <a:ext cx="9259191" cy="396716"/>
          </a:xfrm>
          <a:prstGeom prst="rect">
            <a:avLst/>
          </a:prstGeom>
          <a:solidFill>
            <a:srgbClr val="000000">
              <a:alpha val="4000"/>
            </a:srgbClr>
          </a:solidFill>
          <a:ln/>
        </p:spPr>
        <p:txBody>
          <a:bodyPr/>
          <a:lstStyle/>
          <a:p>
            <a:endParaRPr lang="es-PE" sz="3200" noProof="0" dirty="0"/>
          </a:p>
        </p:txBody>
      </p:sp>
      <p:sp>
        <p:nvSpPr>
          <p:cNvPr id="37" name="Text 35">
            <a:extLst>
              <a:ext uri="{FF2B5EF4-FFF2-40B4-BE49-F238E27FC236}">
                <a16:creationId xmlns:a16="http://schemas.microsoft.com/office/drawing/2014/main" id="{48634689-2888-9334-C100-11D35AFFEF7A}"/>
              </a:ext>
            </a:extLst>
          </p:cNvPr>
          <p:cNvSpPr/>
          <p:nvPr/>
        </p:nvSpPr>
        <p:spPr>
          <a:xfrm>
            <a:off x="2994752" y="6663610"/>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Jhonny Bogado Villegas</a:t>
            </a:r>
            <a:endParaRPr lang="es-PE" sz="1600" noProof="0" dirty="0"/>
          </a:p>
        </p:txBody>
      </p:sp>
      <p:sp>
        <p:nvSpPr>
          <p:cNvPr id="38" name="Text 36">
            <a:extLst>
              <a:ext uri="{FF2B5EF4-FFF2-40B4-BE49-F238E27FC236}">
                <a16:creationId xmlns:a16="http://schemas.microsoft.com/office/drawing/2014/main" id="{77EAA4D9-BCBD-5E7B-C41C-71BADC650FAE}"/>
              </a:ext>
            </a:extLst>
          </p:cNvPr>
          <p:cNvSpPr/>
          <p:nvPr/>
        </p:nvSpPr>
        <p:spPr>
          <a:xfrm>
            <a:off x="8386854" y="6701472"/>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Administrador de Base de Datos</a:t>
            </a:r>
            <a:endParaRPr lang="es-PE" sz="1600" noProof="0" dirty="0"/>
          </a:p>
        </p:txBody>
      </p:sp>
      <p:sp>
        <p:nvSpPr>
          <p:cNvPr id="39" name="Shape 37">
            <a:extLst>
              <a:ext uri="{FF2B5EF4-FFF2-40B4-BE49-F238E27FC236}">
                <a16:creationId xmlns:a16="http://schemas.microsoft.com/office/drawing/2014/main" id="{5E0848F0-9790-866D-71ED-9481A88DDCF7}"/>
              </a:ext>
            </a:extLst>
          </p:cNvPr>
          <p:cNvSpPr/>
          <p:nvPr/>
        </p:nvSpPr>
        <p:spPr>
          <a:xfrm>
            <a:off x="2858426" y="6971030"/>
            <a:ext cx="9259191" cy="396716"/>
          </a:xfrm>
          <a:prstGeom prst="rect">
            <a:avLst/>
          </a:prstGeom>
          <a:solidFill>
            <a:srgbClr val="FFFFFF">
              <a:alpha val="4000"/>
            </a:srgbClr>
          </a:solidFill>
          <a:ln/>
        </p:spPr>
        <p:txBody>
          <a:bodyPr/>
          <a:lstStyle/>
          <a:p>
            <a:endParaRPr lang="es-PE" sz="3200" noProof="0" dirty="0"/>
          </a:p>
        </p:txBody>
      </p:sp>
      <p:sp>
        <p:nvSpPr>
          <p:cNvPr id="40" name="Text 38">
            <a:extLst>
              <a:ext uri="{FF2B5EF4-FFF2-40B4-BE49-F238E27FC236}">
                <a16:creationId xmlns:a16="http://schemas.microsoft.com/office/drawing/2014/main" id="{C8F1BE19-2CE0-E46F-5553-83C8B838AF3C}"/>
              </a:ext>
            </a:extLst>
          </p:cNvPr>
          <p:cNvSpPr/>
          <p:nvPr/>
        </p:nvSpPr>
        <p:spPr>
          <a:xfrm>
            <a:off x="2994752" y="7060327"/>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Mister Abad Gonza</a:t>
            </a:r>
            <a:endParaRPr lang="es-PE" sz="1600" noProof="0" dirty="0"/>
          </a:p>
        </p:txBody>
      </p:sp>
      <p:sp>
        <p:nvSpPr>
          <p:cNvPr id="41" name="Text 39">
            <a:extLst>
              <a:ext uri="{FF2B5EF4-FFF2-40B4-BE49-F238E27FC236}">
                <a16:creationId xmlns:a16="http://schemas.microsoft.com/office/drawing/2014/main" id="{233C988E-80FF-0EE7-521C-8A25AB8A92B6}"/>
              </a:ext>
            </a:extLst>
          </p:cNvPr>
          <p:cNvSpPr/>
          <p:nvPr/>
        </p:nvSpPr>
        <p:spPr>
          <a:xfrm>
            <a:off x="8386854" y="7098189"/>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Desarrollador Back-end</a:t>
            </a:r>
            <a:endParaRPr lang="es-PE" sz="1600" noProof="0" dirty="0"/>
          </a:p>
        </p:txBody>
      </p:sp>
    </p:spTree>
    <p:extLst>
      <p:ext uri="{BB962C8B-B14F-4D97-AF65-F5344CB8AC3E}">
        <p14:creationId xmlns:p14="http://schemas.microsoft.com/office/powerpoint/2010/main" val="362358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3770" y="498753"/>
            <a:ext cx="4845010" cy="565904"/>
          </a:xfrm>
          <a:prstGeom prst="rect">
            <a:avLst/>
          </a:prstGeom>
          <a:noFill/>
          <a:ln/>
        </p:spPr>
        <p:txBody>
          <a:bodyPr wrap="none" lIns="0" tIns="0" rIns="0" bIns="0" rtlCol="0" anchor="t"/>
          <a:lstStyle/>
          <a:p>
            <a:pPr marL="0" indent="0" algn="l">
              <a:lnSpc>
                <a:spcPts val="4450"/>
              </a:lnSpc>
              <a:buNone/>
            </a:pPr>
            <a:r>
              <a:rPr lang="es-PE" sz="3600" b="1" noProof="0" dirty="0">
                <a:solidFill>
                  <a:srgbClr val="666666"/>
                </a:solidFill>
                <a:latin typeface="Staatliches Bold" pitchFamily="34" charset="0"/>
                <a:ea typeface="Staatliches Bold" pitchFamily="34" charset="-122"/>
                <a:cs typeface="Staatliches Bold" pitchFamily="34" charset="-120"/>
              </a:rPr>
              <a:t>FASE 2: Investigación y Diseño</a:t>
            </a:r>
            <a:endParaRPr lang="es-PE" sz="3600" noProof="0" dirty="0"/>
          </a:p>
        </p:txBody>
      </p:sp>
      <p:sp>
        <p:nvSpPr>
          <p:cNvPr id="3" name="Text 1"/>
          <p:cNvSpPr/>
          <p:nvPr/>
        </p:nvSpPr>
        <p:spPr>
          <a:xfrm>
            <a:off x="633770" y="1137047"/>
            <a:ext cx="2617589"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Plan de Acción de Investigación</a:t>
            </a:r>
            <a:endParaRPr lang="es-PE" noProof="0" dirty="0"/>
          </a:p>
        </p:txBody>
      </p:sp>
      <p:sp>
        <p:nvSpPr>
          <p:cNvPr id="4" name="Text 2"/>
          <p:cNvSpPr/>
          <p:nvPr/>
        </p:nvSpPr>
        <p:spPr>
          <a:xfrm>
            <a:off x="633770" y="1691521"/>
            <a:ext cx="13362861" cy="289679"/>
          </a:xfrm>
          <a:prstGeom prst="rect">
            <a:avLst/>
          </a:prstGeom>
          <a:noFill/>
          <a:ln/>
        </p:spPr>
        <p:txBody>
          <a:bodyPr wrap="non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Se ha definido un plan de investigación para adquirir los conocimientos necesarios en áreas clave para el éxito del proyecto.</a:t>
            </a:r>
            <a:endParaRPr lang="es-PE" sz="1600" noProof="0" dirty="0"/>
          </a:p>
        </p:txBody>
      </p:sp>
      <p:sp>
        <p:nvSpPr>
          <p:cNvPr id="5" name="Shape 3"/>
          <p:cNvSpPr/>
          <p:nvPr/>
        </p:nvSpPr>
        <p:spPr>
          <a:xfrm>
            <a:off x="633770" y="2184916"/>
            <a:ext cx="6590824"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6" name="Text 4"/>
          <p:cNvSpPr/>
          <p:nvPr/>
        </p:nvSpPr>
        <p:spPr>
          <a:xfrm>
            <a:off x="822484" y="2373630"/>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Metodología RUP</a:t>
            </a:r>
            <a:endParaRPr lang="es-PE" noProof="0" dirty="0"/>
          </a:p>
        </p:txBody>
      </p:sp>
      <p:sp>
        <p:nvSpPr>
          <p:cNvPr id="7" name="Text 5"/>
          <p:cNvSpPr/>
          <p:nvPr/>
        </p:nvSpPr>
        <p:spPr>
          <a:xfrm>
            <a:off x="822484" y="2765108"/>
            <a:ext cx="6213396"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Aplicar el Proceso Unificado Racional como marco de ingeniería de software para guiar el desarrollo desde los requisitos hasta la implementación.</a:t>
            </a:r>
            <a:endParaRPr lang="es-PE" sz="1600" noProof="0" dirty="0"/>
          </a:p>
        </p:txBody>
      </p:sp>
      <p:sp>
        <p:nvSpPr>
          <p:cNvPr id="8" name="Shape 6"/>
          <p:cNvSpPr/>
          <p:nvPr/>
        </p:nvSpPr>
        <p:spPr>
          <a:xfrm>
            <a:off x="7405688" y="2184916"/>
            <a:ext cx="6590943"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9" name="Text 7"/>
          <p:cNvSpPr/>
          <p:nvPr/>
        </p:nvSpPr>
        <p:spPr>
          <a:xfrm>
            <a:off x="7594402" y="2373630"/>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Cultura Data-Driven</a:t>
            </a:r>
            <a:endParaRPr lang="es-PE" noProof="0" dirty="0"/>
          </a:p>
        </p:txBody>
      </p:sp>
      <p:sp>
        <p:nvSpPr>
          <p:cNvPr id="10" name="Text 8"/>
          <p:cNvSpPr/>
          <p:nvPr/>
        </p:nvSpPr>
        <p:spPr>
          <a:xfrm>
            <a:off x="7594402" y="2765108"/>
            <a:ext cx="6213515"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Implementar una metodología para mejorar la calidad y el aprovechamiento de la información de los clientes en tiempo real para la toma de decisiones.</a:t>
            </a:r>
            <a:endParaRPr lang="es-PE" sz="1600" noProof="0" dirty="0"/>
          </a:p>
        </p:txBody>
      </p:sp>
      <p:sp>
        <p:nvSpPr>
          <p:cNvPr id="11" name="Shape 9"/>
          <p:cNvSpPr/>
          <p:nvPr/>
        </p:nvSpPr>
        <p:spPr>
          <a:xfrm>
            <a:off x="633770" y="3714274"/>
            <a:ext cx="6590824"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2" name="Text 10"/>
          <p:cNvSpPr/>
          <p:nvPr/>
        </p:nvSpPr>
        <p:spPr>
          <a:xfrm>
            <a:off x="822484" y="3902988"/>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Seguridad de Datos</a:t>
            </a:r>
            <a:endParaRPr lang="es-PE" noProof="0" dirty="0"/>
          </a:p>
        </p:txBody>
      </p:sp>
      <p:sp>
        <p:nvSpPr>
          <p:cNvPr id="13" name="Text 11"/>
          <p:cNvSpPr/>
          <p:nvPr/>
        </p:nvSpPr>
        <p:spPr>
          <a:xfrm>
            <a:off x="822484" y="4294465"/>
            <a:ext cx="6213396"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Determinar la sensibilidad de los datos para aplicar estrategias de protección, como el cifrado de información personal y financiera.</a:t>
            </a:r>
            <a:endParaRPr lang="es-PE" sz="1600" noProof="0" dirty="0"/>
          </a:p>
        </p:txBody>
      </p:sp>
      <p:sp>
        <p:nvSpPr>
          <p:cNvPr id="14" name="Shape 12"/>
          <p:cNvSpPr/>
          <p:nvPr/>
        </p:nvSpPr>
        <p:spPr>
          <a:xfrm>
            <a:off x="7405688" y="3714274"/>
            <a:ext cx="6590943"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5" name="Text 13"/>
          <p:cNvSpPr/>
          <p:nvPr/>
        </p:nvSpPr>
        <p:spPr>
          <a:xfrm>
            <a:off x="7594402" y="3902988"/>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SQL y Bases de Datos</a:t>
            </a:r>
            <a:endParaRPr lang="es-PE" noProof="0" dirty="0"/>
          </a:p>
        </p:txBody>
      </p:sp>
      <p:sp>
        <p:nvSpPr>
          <p:cNvPr id="16" name="Text 14"/>
          <p:cNvSpPr/>
          <p:nvPr/>
        </p:nvSpPr>
        <p:spPr>
          <a:xfrm>
            <a:off x="7594402" y="4294465"/>
            <a:ext cx="6213515"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Utilizar SQL para diseñar, almacenar, organizar y gestionar de manera sistemática toda la información centralizada del sistema.</a:t>
            </a:r>
            <a:endParaRPr lang="es-PE" sz="1600" noProof="0" dirty="0"/>
          </a:p>
        </p:txBody>
      </p:sp>
      <p:sp>
        <p:nvSpPr>
          <p:cNvPr id="17" name="Text 15"/>
          <p:cNvSpPr/>
          <p:nvPr/>
        </p:nvSpPr>
        <p:spPr>
          <a:xfrm>
            <a:off x="633770" y="5334119"/>
            <a:ext cx="3234571"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Plan de Desarrollo (Metodología RUP)</a:t>
            </a:r>
            <a:endParaRPr lang="es-PE" noProof="0" dirty="0"/>
          </a:p>
        </p:txBody>
      </p:sp>
      <p:sp>
        <p:nvSpPr>
          <p:cNvPr id="18" name="Text 16"/>
          <p:cNvSpPr/>
          <p:nvPr/>
        </p:nvSpPr>
        <p:spPr>
          <a:xfrm>
            <a:off x="633770" y="5888593"/>
            <a:ext cx="13362861" cy="289679"/>
          </a:xfrm>
          <a:prstGeom prst="rect">
            <a:avLst/>
          </a:prstGeom>
          <a:noFill/>
          <a:ln/>
        </p:spPr>
        <p:txBody>
          <a:bodyPr wrap="non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El proyecto se estructurará en cuatro fases siguiendo el Proceso Unificado Racional (RUP).</a:t>
            </a:r>
            <a:endParaRPr lang="es-PE" sz="1600" noProof="0" dirty="0"/>
          </a:p>
        </p:txBody>
      </p:sp>
      <p:sp>
        <p:nvSpPr>
          <p:cNvPr id="19" name="Text 17"/>
          <p:cNvSpPr/>
          <p:nvPr/>
        </p:nvSpPr>
        <p:spPr>
          <a:xfrm>
            <a:off x="633770" y="6381988"/>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a:pPr>
            <a:r>
              <a:rPr lang="es-PE" sz="1600" b="1" noProof="0" dirty="0">
                <a:solidFill>
                  <a:srgbClr val="666666"/>
                </a:solidFill>
                <a:latin typeface="Abel" pitchFamily="34" charset="0"/>
                <a:ea typeface="Abel" pitchFamily="34" charset="-122"/>
                <a:cs typeface="Abel" pitchFamily="34" charset="-120"/>
              </a:rPr>
              <a:t>Inicio: </a:t>
            </a:r>
            <a:r>
              <a:rPr lang="es-PE" sz="1600" noProof="0" dirty="0">
                <a:solidFill>
                  <a:srgbClr val="666666"/>
                </a:solidFill>
                <a:latin typeface="Abel" pitchFamily="34" charset="0"/>
                <a:ea typeface="Abel" pitchFamily="34" charset="-122"/>
                <a:cs typeface="Abel" pitchFamily="34" charset="-120"/>
              </a:rPr>
              <a:t>Comprensión de la situación actual, Recopilación de requerimientos, Definición del alcance y objetivos.</a:t>
            </a:r>
            <a:endParaRPr lang="es-PE" sz="1600" noProof="0" dirty="0"/>
          </a:p>
        </p:txBody>
      </p:sp>
      <p:sp>
        <p:nvSpPr>
          <p:cNvPr id="20" name="Text 18"/>
          <p:cNvSpPr/>
          <p:nvPr/>
        </p:nvSpPr>
        <p:spPr>
          <a:xfrm>
            <a:off x="633770" y="6735008"/>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2"/>
            </a:pPr>
            <a:r>
              <a:rPr lang="es-PE" sz="1600" b="1" noProof="0" dirty="0">
                <a:solidFill>
                  <a:srgbClr val="666666"/>
                </a:solidFill>
                <a:latin typeface="Abel" pitchFamily="34" charset="0"/>
                <a:ea typeface="Abel" pitchFamily="34" charset="-122"/>
                <a:cs typeface="Abel" pitchFamily="34" charset="-120"/>
              </a:rPr>
              <a:t>Elaboración:</a:t>
            </a:r>
            <a:r>
              <a:rPr lang="es-PE" sz="1600" noProof="0" dirty="0">
                <a:solidFill>
                  <a:srgbClr val="666666"/>
                </a:solidFill>
                <a:latin typeface="Abel" pitchFamily="34" charset="0"/>
                <a:ea typeface="Abel" pitchFamily="34" charset="-122"/>
                <a:cs typeface="Abel" pitchFamily="34" charset="-120"/>
              </a:rPr>
              <a:t> Refinamiento de requerimientos (Casos de Uso), Diseño del sistema (Diagramas UML), Diseño de la base de datos, Implementación de prototipos</a:t>
            </a:r>
            <a:endParaRPr lang="es-PE" sz="1600" noProof="0" dirty="0"/>
          </a:p>
        </p:txBody>
      </p:sp>
      <p:sp>
        <p:nvSpPr>
          <p:cNvPr id="21" name="Text 19"/>
          <p:cNvSpPr/>
          <p:nvPr/>
        </p:nvSpPr>
        <p:spPr>
          <a:xfrm>
            <a:off x="633770" y="7088029"/>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3"/>
            </a:pPr>
            <a:r>
              <a:rPr lang="es-PE" sz="1600" b="1" noProof="0" dirty="0">
                <a:solidFill>
                  <a:srgbClr val="666666"/>
                </a:solidFill>
                <a:latin typeface="Abel" pitchFamily="34" charset="0"/>
                <a:ea typeface="Abel" pitchFamily="34" charset="-122"/>
                <a:cs typeface="Abel" pitchFamily="34" charset="-120"/>
              </a:rPr>
              <a:t>Construcción:</a:t>
            </a:r>
            <a:r>
              <a:rPr lang="es-PE" sz="1600" noProof="0" dirty="0">
                <a:solidFill>
                  <a:srgbClr val="666666"/>
                </a:solidFill>
                <a:latin typeface="Abel" pitchFamily="34" charset="0"/>
                <a:ea typeface="Abel" pitchFamily="34" charset="-122"/>
                <a:cs typeface="Abel" pitchFamily="34" charset="-120"/>
              </a:rPr>
              <a:t> Desarrollo de módulos, Integración de componentes y BD, Pruebas de software unitarias y de integración.</a:t>
            </a:r>
            <a:endParaRPr lang="es-PE" sz="1600" noProof="0" dirty="0"/>
          </a:p>
        </p:txBody>
      </p:sp>
      <p:sp>
        <p:nvSpPr>
          <p:cNvPr id="22" name="Text 20"/>
          <p:cNvSpPr/>
          <p:nvPr/>
        </p:nvSpPr>
        <p:spPr>
          <a:xfrm>
            <a:off x="633770" y="7441049"/>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4"/>
            </a:pPr>
            <a:r>
              <a:rPr lang="es-PE" sz="1600" b="1" noProof="0" dirty="0">
                <a:solidFill>
                  <a:srgbClr val="666666"/>
                </a:solidFill>
                <a:latin typeface="Abel" pitchFamily="34" charset="0"/>
                <a:ea typeface="Abel" pitchFamily="34" charset="-122"/>
                <a:cs typeface="Abel" pitchFamily="34" charset="-120"/>
              </a:rPr>
              <a:t>Transición:</a:t>
            </a:r>
            <a:r>
              <a:rPr lang="es-PE" sz="1600" noProof="0" dirty="0">
                <a:solidFill>
                  <a:srgbClr val="666666"/>
                </a:solidFill>
                <a:latin typeface="Abel" pitchFamily="34" charset="0"/>
                <a:ea typeface="Abel" pitchFamily="34" charset="-122"/>
                <a:cs typeface="Abel" pitchFamily="34" charset="-120"/>
              </a:rPr>
              <a:t> Preparación del entorno, Pruebas de aceptación, Despliegue en producción, Capacitación y soporte.</a:t>
            </a:r>
            <a:endParaRPr lang="es-PE" sz="16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2095" y="363974"/>
            <a:ext cx="5610939" cy="413504"/>
          </a:xfrm>
          <a:prstGeom prst="rect">
            <a:avLst/>
          </a:prstGeom>
          <a:noFill/>
          <a:ln/>
        </p:spPr>
        <p:txBody>
          <a:bodyPr wrap="none" lIns="0" tIns="0" rIns="0" bIns="0" rtlCol="0" anchor="t"/>
          <a:lstStyle/>
          <a:p>
            <a:pPr marL="0" indent="0" algn="l">
              <a:lnSpc>
                <a:spcPts val="3250"/>
              </a:lnSpc>
              <a:buNone/>
            </a:pPr>
            <a:r>
              <a:rPr lang="es-PE" sz="4000" b="1" noProof="0" dirty="0">
                <a:solidFill>
                  <a:srgbClr val="666666"/>
                </a:solidFill>
                <a:latin typeface="Staatliches Bold" pitchFamily="34" charset="0"/>
                <a:ea typeface="Staatliches Bold" pitchFamily="34" charset="-122"/>
                <a:cs typeface="Staatliches Bold" pitchFamily="34" charset="-120"/>
              </a:rPr>
              <a:t>Requerimientos Funcionales y No Funcionales</a:t>
            </a:r>
            <a:endParaRPr lang="es-PE" sz="4000" noProof="0" dirty="0"/>
          </a:p>
        </p:txBody>
      </p:sp>
      <p:sp>
        <p:nvSpPr>
          <p:cNvPr id="3" name="Text 1"/>
          <p:cNvSpPr/>
          <p:nvPr/>
        </p:nvSpPr>
        <p:spPr>
          <a:xfrm>
            <a:off x="572095" y="830342"/>
            <a:ext cx="2118360"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Funcionales Clave</a:t>
            </a:r>
            <a:endParaRPr lang="es-PE" sz="2000" noProof="0" dirty="0"/>
          </a:p>
        </p:txBody>
      </p:sp>
      <p:sp>
        <p:nvSpPr>
          <p:cNvPr id="4" name="Shape 2"/>
          <p:cNvSpPr/>
          <p:nvPr/>
        </p:nvSpPr>
        <p:spPr>
          <a:xfrm>
            <a:off x="572095"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5" name="Shape 3"/>
          <p:cNvSpPr/>
          <p:nvPr/>
        </p:nvSpPr>
        <p:spPr>
          <a:xfrm>
            <a:off x="587335" y="1250871"/>
            <a:ext cx="4376738" cy="397073"/>
          </a:xfrm>
          <a:prstGeom prst="roundRect">
            <a:avLst>
              <a:gd name="adj" fmla="val 9395"/>
            </a:avLst>
          </a:prstGeom>
          <a:solidFill>
            <a:srgbClr val="D4F7F1"/>
          </a:solidFill>
          <a:ln/>
        </p:spPr>
        <p:txBody>
          <a:bodyPr/>
          <a:lstStyle/>
          <a:p>
            <a:endParaRPr lang="es-PE" sz="3200" noProof="0" dirty="0"/>
          </a:p>
        </p:txBody>
      </p:sp>
      <p:sp>
        <p:nvSpPr>
          <p:cNvPr id="6" name="Text 4"/>
          <p:cNvSpPr/>
          <p:nvPr/>
        </p:nvSpPr>
        <p:spPr>
          <a:xfrm>
            <a:off x="2676406"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1</a:t>
            </a:r>
            <a:endParaRPr lang="es-PE" sz="2400" noProof="0" dirty="0"/>
          </a:p>
        </p:txBody>
      </p:sp>
      <p:sp>
        <p:nvSpPr>
          <p:cNvPr id="7" name="Text 5"/>
          <p:cNvSpPr/>
          <p:nvPr/>
        </p:nvSpPr>
        <p:spPr>
          <a:xfrm>
            <a:off x="719614"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Clientes</a:t>
            </a:r>
            <a:endParaRPr lang="es-PE" sz="2000" noProof="0" dirty="0"/>
          </a:p>
        </p:txBody>
      </p:sp>
      <p:sp>
        <p:nvSpPr>
          <p:cNvPr id="8" name="Text 6"/>
          <p:cNvSpPr/>
          <p:nvPr/>
        </p:nvSpPr>
        <p:spPr>
          <a:xfrm>
            <a:off x="719614"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Registrar, actualizar y consultar datos de clientes.</a:t>
            </a:r>
            <a:endParaRPr lang="es-PE" sz="1400" noProof="0" dirty="0"/>
          </a:p>
        </p:txBody>
      </p:sp>
      <p:sp>
        <p:nvSpPr>
          <p:cNvPr id="9" name="Text 7"/>
          <p:cNvSpPr/>
          <p:nvPr/>
        </p:nvSpPr>
        <p:spPr>
          <a:xfrm>
            <a:off x="719614"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Almacenar historial de interacciones (visitas,</a:t>
            </a:r>
          </a:p>
          <a:p>
            <a:pPr algn="l">
              <a:lnSpc>
                <a:spcPts val="1650"/>
              </a:lnSpc>
              <a:buSzPct val="100000"/>
            </a:pPr>
            <a:r>
              <a:rPr lang="es-PE" sz="1400" dirty="0">
                <a:solidFill>
                  <a:srgbClr val="666666"/>
                </a:solidFill>
                <a:latin typeface="Abel" pitchFamily="34" charset="0"/>
                <a:ea typeface="Abel" pitchFamily="34" charset="-122"/>
                <a:cs typeface="Abel" pitchFamily="34" charset="-120"/>
              </a:rPr>
              <a:t>        </a:t>
            </a:r>
            <a:r>
              <a:rPr lang="es-PE" sz="1400" noProof="0" dirty="0">
                <a:solidFill>
                  <a:srgbClr val="666666"/>
                </a:solidFill>
                <a:latin typeface="Abel" pitchFamily="34" charset="0"/>
                <a:ea typeface="Abel" pitchFamily="34" charset="-122"/>
                <a:cs typeface="Abel" pitchFamily="34" charset="-120"/>
              </a:rPr>
              <a:t>promociones).</a:t>
            </a:r>
            <a:endParaRPr lang="es-PE" sz="1400" noProof="0" dirty="0"/>
          </a:p>
        </p:txBody>
      </p:sp>
      <p:sp>
        <p:nvSpPr>
          <p:cNvPr id="10" name="Shape 8"/>
          <p:cNvSpPr/>
          <p:nvPr/>
        </p:nvSpPr>
        <p:spPr>
          <a:xfrm>
            <a:off x="5111591"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11" name="Shape 9"/>
          <p:cNvSpPr/>
          <p:nvPr/>
        </p:nvSpPr>
        <p:spPr>
          <a:xfrm>
            <a:off x="5126831" y="1250871"/>
            <a:ext cx="4376738" cy="397073"/>
          </a:xfrm>
          <a:prstGeom prst="roundRect">
            <a:avLst>
              <a:gd name="adj" fmla="val 9395"/>
            </a:avLst>
          </a:prstGeom>
          <a:solidFill>
            <a:srgbClr val="D4F7F1"/>
          </a:solidFill>
          <a:ln/>
        </p:spPr>
        <p:txBody>
          <a:bodyPr/>
          <a:lstStyle/>
          <a:p>
            <a:endParaRPr lang="es-PE" sz="3200" noProof="0" dirty="0"/>
          </a:p>
        </p:txBody>
      </p:sp>
      <p:sp>
        <p:nvSpPr>
          <p:cNvPr id="12" name="Text 10"/>
          <p:cNvSpPr/>
          <p:nvPr/>
        </p:nvSpPr>
        <p:spPr>
          <a:xfrm>
            <a:off x="7215902"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2</a:t>
            </a:r>
            <a:endParaRPr lang="es-PE" sz="2400" noProof="0" dirty="0"/>
          </a:p>
        </p:txBody>
      </p:sp>
      <p:sp>
        <p:nvSpPr>
          <p:cNvPr id="13" name="Text 11"/>
          <p:cNvSpPr/>
          <p:nvPr/>
        </p:nvSpPr>
        <p:spPr>
          <a:xfrm>
            <a:off x="5259110"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Usuarios</a:t>
            </a:r>
            <a:endParaRPr lang="es-PE" sz="2000" noProof="0" dirty="0"/>
          </a:p>
        </p:txBody>
      </p:sp>
      <p:sp>
        <p:nvSpPr>
          <p:cNvPr id="14" name="Text 12"/>
          <p:cNvSpPr/>
          <p:nvPr/>
        </p:nvSpPr>
        <p:spPr>
          <a:xfrm>
            <a:off x="5259110"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Crear y gestionar usuarios del sistema.</a:t>
            </a:r>
            <a:endParaRPr lang="es-PE" sz="1400" noProof="0" dirty="0"/>
          </a:p>
        </p:txBody>
      </p:sp>
      <p:sp>
        <p:nvSpPr>
          <p:cNvPr id="15" name="Text 13"/>
          <p:cNvSpPr/>
          <p:nvPr/>
        </p:nvSpPr>
        <p:spPr>
          <a:xfrm>
            <a:off x="5259110"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Asignar distintos niveles de acceso y roles.</a:t>
            </a:r>
            <a:endParaRPr lang="es-PE" sz="1400" noProof="0" dirty="0"/>
          </a:p>
        </p:txBody>
      </p:sp>
      <p:sp>
        <p:nvSpPr>
          <p:cNvPr id="16" name="Shape 14"/>
          <p:cNvSpPr/>
          <p:nvPr/>
        </p:nvSpPr>
        <p:spPr>
          <a:xfrm>
            <a:off x="9651087"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17" name="Shape 15"/>
          <p:cNvSpPr/>
          <p:nvPr/>
        </p:nvSpPr>
        <p:spPr>
          <a:xfrm>
            <a:off x="9666327" y="1250871"/>
            <a:ext cx="4376738" cy="397073"/>
          </a:xfrm>
          <a:prstGeom prst="roundRect">
            <a:avLst>
              <a:gd name="adj" fmla="val 9395"/>
            </a:avLst>
          </a:prstGeom>
          <a:solidFill>
            <a:srgbClr val="D4F7F1"/>
          </a:solidFill>
          <a:ln/>
        </p:spPr>
        <p:txBody>
          <a:bodyPr/>
          <a:lstStyle/>
          <a:p>
            <a:endParaRPr lang="es-PE" sz="3200" noProof="0" dirty="0"/>
          </a:p>
        </p:txBody>
      </p:sp>
      <p:sp>
        <p:nvSpPr>
          <p:cNvPr id="18" name="Text 16"/>
          <p:cNvSpPr/>
          <p:nvPr/>
        </p:nvSpPr>
        <p:spPr>
          <a:xfrm>
            <a:off x="11755398"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3</a:t>
            </a:r>
            <a:endParaRPr lang="es-PE" sz="2400" noProof="0" dirty="0"/>
          </a:p>
        </p:txBody>
      </p:sp>
      <p:sp>
        <p:nvSpPr>
          <p:cNvPr id="19" name="Text 17"/>
          <p:cNvSpPr/>
          <p:nvPr/>
        </p:nvSpPr>
        <p:spPr>
          <a:xfrm>
            <a:off x="9798606"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Promociones</a:t>
            </a:r>
            <a:endParaRPr lang="es-PE" sz="2000" noProof="0" dirty="0"/>
          </a:p>
        </p:txBody>
      </p:sp>
      <p:sp>
        <p:nvSpPr>
          <p:cNvPr id="20" name="Text 18"/>
          <p:cNvSpPr/>
          <p:nvPr/>
        </p:nvSpPr>
        <p:spPr>
          <a:xfrm>
            <a:off x="9798606"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Crear promociones con condiciones específicas.</a:t>
            </a:r>
            <a:endParaRPr lang="es-PE" sz="1400" noProof="0" dirty="0"/>
          </a:p>
        </p:txBody>
      </p:sp>
      <p:sp>
        <p:nvSpPr>
          <p:cNvPr id="21" name="Text 19"/>
          <p:cNvSpPr/>
          <p:nvPr/>
        </p:nvSpPr>
        <p:spPr>
          <a:xfrm>
            <a:off x="9798606"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Asignar promociones a segmentos de clientes.</a:t>
            </a:r>
            <a:endParaRPr lang="es-PE" sz="1400" noProof="0" dirty="0"/>
          </a:p>
        </p:txBody>
      </p:sp>
      <p:sp>
        <p:nvSpPr>
          <p:cNvPr id="22" name="Text 20"/>
          <p:cNvSpPr/>
          <p:nvPr/>
        </p:nvSpPr>
        <p:spPr>
          <a:xfrm>
            <a:off x="9798606" y="2582704"/>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Mostrar promociones activas.</a:t>
            </a:r>
            <a:endParaRPr lang="es-PE" sz="1400" noProof="0" dirty="0"/>
          </a:p>
        </p:txBody>
      </p:sp>
      <p:sp>
        <p:nvSpPr>
          <p:cNvPr id="23" name="Text 21"/>
          <p:cNvSpPr/>
          <p:nvPr/>
        </p:nvSpPr>
        <p:spPr>
          <a:xfrm>
            <a:off x="9798606" y="2840831"/>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Generar reportes de efectividad.</a:t>
            </a:r>
            <a:endParaRPr lang="es-PE" sz="1400" noProof="0" dirty="0"/>
          </a:p>
        </p:txBody>
      </p:sp>
      <p:sp>
        <p:nvSpPr>
          <p:cNvPr id="24" name="Text 22"/>
          <p:cNvSpPr/>
          <p:nvPr/>
        </p:nvSpPr>
        <p:spPr>
          <a:xfrm>
            <a:off x="572095" y="3398639"/>
            <a:ext cx="3439954"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Funcionales (Automatización y Soporte)</a:t>
            </a:r>
            <a:endParaRPr lang="es-PE" sz="2000" noProof="0" dirty="0"/>
          </a:p>
        </p:txBody>
      </p:sp>
      <p:sp>
        <p:nvSpPr>
          <p:cNvPr id="25" name="Text 23"/>
          <p:cNvSpPr/>
          <p:nvPr/>
        </p:nvSpPr>
        <p:spPr>
          <a:xfrm>
            <a:off x="572095" y="393620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Automatización</a:t>
            </a:r>
            <a:endParaRPr lang="es-PE" sz="2000" noProof="0" dirty="0"/>
          </a:p>
        </p:txBody>
      </p:sp>
      <p:sp>
        <p:nvSpPr>
          <p:cNvPr id="26" name="Text 24"/>
          <p:cNvSpPr/>
          <p:nvPr/>
        </p:nvSpPr>
        <p:spPr>
          <a:xfrm>
            <a:off x="572095" y="4275296"/>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Permitir la configuración de tareas automáticas (envío de promociones, segmentación).</a:t>
            </a:r>
            <a:endParaRPr lang="es-PE" sz="1400" noProof="0" dirty="0"/>
          </a:p>
        </p:txBody>
      </p:sp>
      <p:sp>
        <p:nvSpPr>
          <p:cNvPr id="27" name="Text 25"/>
          <p:cNvSpPr/>
          <p:nvPr/>
        </p:nvSpPr>
        <p:spPr>
          <a:xfrm>
            <a:off x="572095" y="4533424"/>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Ejecutar tareas según la programación definida.</a:t>
            </a:r>
            <a:endParaRPr lang="es-PE" sz="1400" noProof="0" dirty="0"/>
          </a:p>
        </p:txBody>
      </p:sp>
      <p:sp>
        <p:nvSpPr>
          <p:cNvPr id="28" name="Text 26"/>
          <p:cNvSpPr/>
          <p:nvPr/>
        </p:nvSpPr>
        <p:spPr>
          <a:xfrm>
            <a:off x="7484269" y="393620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Incidencias</a:t>
            </a:r>
            <a:endParaRPr lang="es-PE" sz="2000" noProof="0" dirty="0"/>
          </a:p>
        </p:txBody>
      </p:sp>
      <p:sp>
        <p:nvSpPr>
          <p:cNvPr id="29" name="Text 27"/>
          <p:cNvSpPr/>
          <p:nvPr/>
        </p:nvSpPr>
        <p:spPr>
          <a:xfrm>
            <a:off x="7484269" y="4275296"/>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Registrar incidencias (quejas, solicitudes) de clientes.</a:t>
            </a:r>
            <a:endParaRPr lang="es-PE" sz="1400" noProof="0" dirty="0"/>
          </a:p>
        </p:txBody>
      </p:sp>
      <p:sp>
        <p:nvSpPr>
          <p:cNvPr id="30" name="Text 28"/>
          <p:cNvSpPr/>
          <p:nvPr/>
        </p:nvSpPr>
        <p:spPr>
          <a:xfrm>
            <a:off x="7484269" y="4533424"/>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Permitir marcar incidencias como resueltas y registrar la solución.</a:t>
            </a:r>
            <a:endParaRPr lang="es-PE" sz="1400" noProof="0" dirty="0"/>
          </a:p>
        </p:txBody>
      </p:sp>
      <p:sp>
        <p:nvSpPr>
          <p:cNvPr id="31" name="Text 29"/>
          <p:cNvSpPr/>
          <p:nvPr/>
        </p:nvSpPr>
        <p:spPr>
          <a:xfrm>
            <a:off x="572095" y="4990028"/>
            <a:ext cx="1929051"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No Funcionales</a:t>
            </a:r>
            <a:endParaRPr lang="es-PE" sz="2000" noProof="0" dirty="0"/>
          </a:p>
        </p:txBody>
      </p:sp>
      <p:sp>
        <p:nvSpPr>
          <p:cNvPr id="32" name="Text 30"/>
          <p:cNvSpPr/>
          <p:nvPr/>
        </p:nvSpPr>
        <p:spPr>
          <a:xfrm>
            <a:off x="572095" y="5395317"/>
            <a:ext cx="13486209" cy="211812"/>
          </a:xfrm>
          <a:prstGeom prst="rect">
            <a:avLst/>
          </a:prstGeom>
          <a:noFill/>
          <a:ln/>
        </p:spPr>
        <p:txBody>
          <a:bodyPr wrap="non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Además de las funcionalidades, el sistema debe cumplir con estándares de calidad críticos para asegurar su éxito y adopción.</a:t>
            </a:r>
            <a:endParaRPr lang="es-PE" sz="1400" noProof="0" dirty="0"/>
          </a:p>
        </p:txBody>
      </p:sp>
      <p:sp>
        <p:nvSpPr>
          <p:cNvPr id="33" name="Shape 31"/>
          <p:cNvSpPr/>
          <p:nvPr/>
        </p:nvSpPr>
        <p:spPr>
          <a:xfrm>
            <a:off x="572095" y="5755958"/>
            <a:ext cx="6676906"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34" name="Text 32"/>
          <p:cNvSpPr/>
          <p:nvPr/>
        </p:nvSpPr>
        <p:spPr>
          <a:xfrm>
            <a:off x="711994" y="589585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Rendimiento</a:t>
            </a:r>
            <a:endParaRPr lang="es-PE" sz="2000" noProof="0" dirty="0"/>
          </a:p>
        </p:txBody>
      </p:sp>
      <p:sp>
        <p:nvSpPr>
          <p:cNvPr id="35" name="Text 33"/>
          <p:cNvSpPr/>
          <p:nvPr/>
        </p:nvSpPr>
        <p:spPr>
          <a:xfrm>
            <a:off x="711994" y="6182082"/>
            <a:ext cx="6397109"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El sistema deberá responder a las consultas y transacciones en menos de 2 segundos para garantizar una experiencia de usuario fluida.</a:t>
            </a:r>
            <a:endParaRPr lang="es-PE" sz="1400" noProof="0" dirty="0"/>
          </a:p>
        </p:txBody>
      </p:sp>
      <p:sp>
        <p:nvSpPr>
          <p:cNvPr id="36" name="Shape 34"/>
          <p:cNvSpPr/>
          <p:nvPr/>
        </p:nvSpPr>
        <p:spPr>
          <a:xfrm>
            <a:off x="7381280" y="5755958"/>
            <a:ext cx="6677025"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37" name="Text 35"/>
          <p:cNvSpPr/>
          <p:nvPr/>
        </p:nvSpPr>
        <p:spPr>
          <a:xfrm>
            <a:off x="7521178" y="589585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Seguridad</a:t>
            </a:r>
            <a:endParaRPr lang="es-PE" sz="2000" noProof="0" dirty="0"/>
          </a:p>
        </p:txBody>
      </p:sp>
      <p:sp>
        <p:nvSpPr>
          <p:cNvPr id="38" name="Text 36"/>
          <p:cNvSpPr/>
          <p:nvPr/>
        </p:nvSpPr>
        <p:spPr>
          <a:xfrm>
            <a:off x="7521178" y="6182082"/>
            <a:ext cx="6397228"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Todos los datos sensibles del cliente deben estar cifrados en reposo y en tránsito. Se implementará un sistema de roles y permisos estricto.</a:t>
            </a:r>
            <a:endParaRPr lang="es-PE" sz="1400" noProof="0" dirty="0"/>
          </a:p>
        </p:txBody>
      </p:sp>
      <p:sp>
        <p:nvSpPr>
          <p:cNvPr id="39" name="Shape 37"/>
          <p:cNvSpPr/>
          <p:nvPr/>
        </p:nvSpPr>
        <p:spPr>
          <a:xfrm>
            <a:off x="572095" y="6877883"/>
            <a:ext cx="6676906"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40" name="Text 38"/>
          <p:cNvSpPr/>
          <p:nvPr/>
        </p:nvSpPr>
        <p:spPr>
          <a:xfrm>
            <a:off x="711994" y="701778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Usabilidad</a:t>
            </a:r>
            <a:endParaRPr lang="es-PE" sz="2000" noProof="0" dirty="0"/>
          </a:p>
        </p:txBody>
      </p:sp>
      <p:sp>
        <p:nvSpPr>
          <p:cNvPr id="41" name="Text 39"/>
          <p:cNvSpPr/>
          <p:nvPr/>
        </p:nvSpPr>
        <p:spPr>
          <a:xfrm>
            <a:off x="711994" y="7304008"/>
            <a:ext cx="6201609" cy="498276"/>
          </a:xfrm>
          <a:prstGeom prst="rect">
            <a:avLst/>
          </a:prstGeom>
          <a:noFill/>
          <a:ln/>
        </p:spPr>
        <p:txBody>
          <a:bodyPr wrap="non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La interfaz de usuario debe ser intuitiva y fácil de usar, requiriendo un mínimo de</a:t>
            </a:r>
          </a:p>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 capacitación para los empleados.</a:t>
            </a:r>
            <a:endParaRPr lang="es-PE" sz="1400" noProof="0" dirty="0"/>
          </a:p>
        </p:txBody>
      </p:sp>
      <p:sp>
        <p:nvSpPr>
          <p:cNvPr id="42" name="Shape 40"/>
          <p:cNvSpPr/>
          <p:nvPr/>
        </p:nvSpPr>
        <p:spPr>
          <a:xfrm>
            <a:off x="7381280" y="6877883"/>
            <a:ext cx="6677025"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43" name="Text 41"/>
          <p:cNvSpPr/>
          <p:nvPr/>
        </p:nvSpPr>
        <p:spPr>
          <a:xfrm>
            <a:off x="7521178" y="701778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Escalabilidad</a:t>
            </a:r>
            <a:endParaRPr lang="es-PE" sz="2000" noProof="0" dirty="0"/>
          </a:p>
        </p:txBody>
      </p:sp>
      <p:sp>
        <p:nvSpPr>
          <p:cNvPr id="44" name="Text 42"/>
          <p:cNvSpPr/>
          <p:nvPr/>
        </p:nvSpPr>
        <p:spPr>
          <a:xfrm>
            <a:off x="7521178" y="7304008"/>
            <a:ext cx="6397228"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La arquitectura del sistema debe ser capaz de soportar un crecimiento del 50% en el número de clientes y transacciones durante los próximos 3 años.</a:t>
            </a:r>
            <a:endParaRPr lang="es-PE" sz="14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3184" y="302478"/>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rgbClr val="666666"/>
                </a:solidFill>
                <a:latin typeface="Staatliches Bold" pitchFamily="34" charset="0"/>
                <a:ea typeface="Staatliches Bold" pitchFamily="34" charset="-122"/>
                <a:cs typeface="Staatliches Bold" pitchFamily="34" charset="-120"/>
              </a:rPr>
              <a:t>DIAGRAMA DE CASOS DE USOS</a:t>
            </a:r>
            <a:endParaRPr lang="es-PE" sz="4500" noProof="0" dirty="0"/>
          </a:p>
        </p:txBody>
      </p:sp>
      <p:pic>
        <p:nvPicPr>
          <p:cNvPr id="25" name="Imagen 24">
            <a:extLst>
              <a:ext uri="{FF2B5EF4-FFF2-40B4-BE49-F238E27FC236}">
                <a16:creationId xmlns:a16="http://schemas.microsoft.com/office/drawing/2014/main" id="{5680FAE6-4DD9-C084-DDF3-1A37C2FAB0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274" y="1163153"/>
            <a:ext cx="6067487" cy="67639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9387" y="640675"/>
            <a:ext cx="10857548" cy="722709"/>
          </a:xfrm>
          <a:prstGeom prst="rect">
            <a:avLst/>
          </a:prstGeom>
          <a:noFill/>
          <a:ln/>
        </p:spPr>
        <p:txBody>
          <a:bodyPr wrap="none" lIns="0" tIns="0" rIns="0" bIns="0" rtlCol="0" anchor="t"/>
          <a:lstStyle/>
          <a:p>
            <a:pPr marL="0" indent="0" algn="l">
              <a:lnSpc>
                <a:spcPts val="5650"/>
              </a:lnSpc>
              <a:buNone/>
            </a:pPr>
            <a:r>
              <a:rPr lang="es-PE" sz="4800" b="1" noProof="0" dirty="0">
                <a:solidFill>
                  <a:srgbClr val="666666"/>
                </a:solidFill>
                <a:latin typeface="Staatliches Bold" pitchFamily="34" charset="0"/>
                <a:ea typeface="Staatliches Bold" pitchFamily="34" charset="-122"/>
                <a:cs typeface="Staatliches Bold" pitchFamily="34" charset="-120"/>
              </a:rPr>
              <a:t>Ejemplo de Caso de Uso: Registrar Cliente (CU-001)</a:t>
            </a:r>
            <a:endParaRPr lang="es-PE" sz="4800" noProof="0" dirty="0"/>
          </a:p>
        </p:txBody>
      </p:sp>
      <p:sp>
        <p:nvSpPr>
          <p:cNvPr id="3" name="Shape 1"/>
          <p:cNvSpPr/>
          <p:nvPr/>
        </p:nvSpPr>
        <p:spPr>
          <a:xfrm>
            <a:off x="809387" y="1825823"/>
            <a:ext cx="13011626" cy="5763101"/>
          </a:xfrm>
          <a:prstGeom prst="roundRect">
            <a:avLst>
              <a:gd name="adj" fmla="val 1685"/>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817007" y="1833443"/>
            <a:ext cx="12996386" cy="662583"/>
          </a:xfrm>
          <a:prstGeom prst="rect">
            <a:avLst/>
          </a:prstGeom>
          <a:solidFill>
            <a:srgbClr val="FFFFFF">
              <a:alpha val="4000"/>
            </a:srgbClr>
          </a:solidFill>
          <a:ln/>
        </p:spPr>
        <p:txBody>
          <a:bodyPr/>
          <a:lstStyle/>
          <a:p>
            <a:endParaRPr lang="es-PE" noProof="0" dirty="0"/>
          </a:p>
        </p:txBody>
      </p:sp>
      <p:sp>
        <p:nvSpPr>
          <p:cNvPr id="5" name="Text 3"/>
          <p:cNvSpPr/>
          <p:nvPr/>
        </p:nvSpPr>
        <p:spPr>
          <a:xfrm>
            <a:off x="1048345" y="1979771"/>
            <a:ext cx="3432572" cy="369927"/>
          </a:xfrm>
          <a:prstGeom prst="rect">
            <a:avLst/>
          </a:prstGeom>
          <a:noFill/>
          <a:ln/>
        </p:spPr>
        <p:txBody>
          <a:bodyPr wrap="none" lIns="0" tIns="0" rIns="0" bIns="0" rtlCol="0" anchor="t"/>
          <a:lstStyle/>
          <a:p>
            <a:pPr marL="0" indent="0" algn="l">
              <a:lnSpc>
                <a:spcPts val="2900"/>
              </a:lnSpc>
              <a:buNone/>
            </a:pPr>
            <a:r>
              <a:rPr lang="es-PE" b="1" noProof="0" dirty="0">
                <a:solidFill>
                  <a:srgbClr val="666666"/>
                </a:solidFill>
                <a:latin typeface="Abel" pitchFamily="34" charset="0"/>
                <a:ea typeface="Abel" pitchFamily="34" charset="-122"/>
                <a:cs typeface="Abel" pitchFamily="34" charset="-120"/>
              </a:rPr>
              <a:t>Elemento</a:t>
            </a:r>
            <a:endParaRPr lang="es-PE" noProof="0" dirty="0"/>
          </a:p>
        </p:txBody>
      </p:sp>
      <p:sp>
        <p:nvSpPr>
          <p:cNvPr id="6" name="Text 4"/>
          <p:cNvSpPr/>
          <p:nvPr/>
        </p:nvSpPr>
        <p:spPr>
          <a:xfrm>
            <a:off x="4950976" y="1979771"/>
            <a:ext cx="8631198" cy="369927"/>
          </a:xfrm>
          <a:prstGeom prst="rect">
            <a:avLst/>
          </a:prstGeom>
          <a:noFill/>
          <a:ln/>
        </p:spPr>
        <p:txBody>
          <a:bodyPr wrap="none" lIns="0" tIns="0" rIns="0" bIns="0" rtlCol="0" anchor="t"/>
          <a:lstStyle/>
          <a:p>
            <a:pPr marL="0" indent="0" algn="l">
              <a:lnSpc>
                <a:spcPts val="2900"/>
              </a:lnSpc>
              <a:buNone/>
            </a:pPr>
            <a:r>
              <a:rPr lang="es-PE" b="1" noProof="0" dirty="0">
                <a:solidFill>
                  <a:srgbClr val="666666"/>
                </a:solidFill>
                <a:latin typeface="Abel" pitchFamily="34" charset="0"/>
                <a:ea typeface="Abel" pitchFamily="34" charset="-122"/>
                <a:cs typeface="Abel" pitchFamily="34" charset="-120"/>
              </a:rPr>
              <a:t>Descripción</a:t>
            </a:r>
            <a:endParaRPr lang="es-PE" noProof="0" dirty="0"/>
          </a:p>
        </p:txBody>
      </p:sp>
      <p:sp>
        <p:nvSpPr>
          <p:cNvPr id="7" name="Shape 5"/>
          <p:cNvSpPr/>
          <p:nvPr/>
        </p:nvSpPr>
        <p:spPr>
          <a:xfrm>
            <a:off x="817007" y="2496026"/>
            <a:ext cx="12996386" cy="662583"/>
          </a:xfrm>
          <a:prstGeom prst="rect">
            <a:avLst/>
          </a:prstGeom>
          <a:solidFill>
            <a:srgbClr val="000000">
              <a:alpha val="4000"/>
            </a:srgbClr>
          </a:solidFill>
          <a:ln/>
        </p:spPr>
        <p:txBody>
          <a:bodyPr/>
          <a:lstStyle/>
          <a:p>
            <a:endParaRPr lang="es-PE" noProof="0" dirty="0"/>
          </a:p>
        </p:txBody>
      </p:sp>
      <p:sp>
        <p:nvSpPr>
          <p:cNvPr id="8" name="Text 6"/>
          <p:cNvSpPr/>
          <p:nvPr/>
        </p:nvSpPr>
        <p:spPr>
          <a:xfrm>
            <a:off x="1048345" y="2642354"/>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Código</a:t>
            </a:r>
            <a:endParaRPr lang="es-PE" noProof="0" dirty="0"/>
          </a:p>
        </p:txBody>
      </p:sp>
      <p:sp>
        <p:nvSpPr>
          <p:cNvPr id="9" name="Text 7"/>
          <p:cNvSpPr/>
          <p:nvPr/>
        </p:nvSpPr>
        <p:spPr>
          <a:xfrm>
            <a:off x="4950976" y="2642354"/>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CU – 001</a:t>
            </a:r>
            <a:endParaRPr lang="es-PE" noProof="0" dirty="0"/>
          </a:p>
        </p:txBody>
      </p:sp>
      <p:sp>
        <p:nvSpPr>
          <p:cNvPr id="10" name="Shape 8"/>
          <p:cNvSpPr/>
          <p:nvPr/>
        </p:nvSpPr>
        <p:spPr>
          <a:xfrm>
            <a:off x="817007" y="3158609"/>
            <a:ext cx="12996386" cy="662583"/>
          </a:xfrm>
          <a:prstGeom prst="rect">
            <a:avLst/>
          </a:prstGeom>
          <a:solidFill>
            <a:srgbClr val="FFFFFF">
              <a:alpha val="4000"/>
            </a:srgbClr>
          </a:solidFill>
          <a:ln/>
        </p:spPr>
        <p:txBody>
          <a:bodyPr/>
          <a:lstStyle/>
          <a:p>
            <a:endParaRPr lang="es-PE" noProof="0" dirty="0"/>
          </a:p>
        </p:txBody>
      </p:sp>
      <p:sp>
        <p:nvSpPr>
          <p:cNvPr id="11" name="Text 9"/>
          <p:cNvSpPr/>
          <p:nvPr/>
        </p:nvSpPr>
        <p:spPr>
          <a:xfrm>
            <a:off x="1048345" y="3304937"/>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Caso de uso</a:t>
            </a:r>
            <a:endParaRPr lang="es-PE" noProof="0" dirty="0"/>
          </a:p>
        </p:txBody>
      </p:sp>
      <p:sp>
        <p:nvSpPr>
          <p:cNvPr id="12" name="Text 10"/>
          <p:cNvSpPr/>
          <p:nvPr/>
        </p:nvSpPr>
        <p:spPr>
          <a:xfrm>
            <a:off x="4950976" y="3304937"/>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Registrar Cliente</a:t>
            </a:r>
            <a:endParaRPr lang="es-PE" noProof="0" dirty="0"/>
          </a:p>
        </p:txBody>
      </p:sp>
      <p:sp>
        <p:nvSpPr>
          <p:cNvPr id="13" name="Shape 11"/>
          <p:cNvSpPr/>
          <p:nvPr/>
        </p:nvSpPr>
        <p:spPr>
          <a:xfrm>
            <a:off x="817007" y="3821192"/>
            <a:ext cx="12996386" cy="662583"/>
          </a:xfrm>
          <a:prstGeom prst="rect">
            <a:avLst/>
          </a:prstGeom>
          <a:solidFill>
            <a:srgbClr val="000000">
              <a:alpha val="4000"/>
            </a:srgbClr>
          </a:solidFill>
          <a:ln/>
        </p:spPr>
        <p:txBody>
          <a:bodyPr/>
          <a:lstStyle/>
          <a:p>
            <a:endParaRPr lang="es-PE" noProof="0" dirty="0"/>
          </a:p>
        </p:txBody>
      </p:sp>
      <p:sp>
        <p:nvSpPr>
          <p:cNvPr id="14" name="Text 12"/>
          <p:cNvSpPr/>
          <p:nvPr/>
        </p:nvSpPr>
        <p:spPr>
          <a:xfrm>
            <a:off x="1048345" y="3967520"/>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Actores</a:t>
            </a:r>
            <a:endParaRPr lang="es-PE" noProof="0" dirty="0"/>
          </a:p>
        </p:txBody>
      </p:sp>
      <p:sp>
        <p:nvSpPr>
          <p:cNvPr id="15" name="Text 13"/>
          <p:cNvSpPr/>
          <p:nvPr/>
        </p:nvSpPr>
        <p:spPr>
          <a:xfrm>
            <a:off x="4950976" y="3967520"/>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Gerencia de Operaciones</a:t>
            </a:r>
            <a:endParaRPr lang="es-PE" noProof="0" dirty="0"/>
          </a:p>
        </p:txBody>
      </p:sp>
      <p:sp>
        <p:nvSpPr>
          <p:cNvPr id="16" name="Shape 14"/>
          <p:cNvSpPr/>
          <p:nvPr/>
        </p:nvSpPr>
        <p:spPr>
          <a:xfrm>
            <a:off x="817007" y="4483775"/>
            <a:ext cx="12996386" cy="1032510"/>
          </a:xfrm>
          <a:prstGeom prst="rect">
            <a:avLst/>
          </a:prstGeom>
          <a:solidFill>
            <a:srgbClr val="FFFFFF">
              <a:alpha val="4000"/>
            </a:srgbClr>
          </a:solidFill>
          <a:ln/>
        </p:spPr>
        <p:txBody>
          <a:bodyPr/>
          <a:lstStyle/>
          <a:p>
            <a:endParaRPr lang="es-PE" noProof="0" dirty="0"/>
          </a:p>
        </p:txBody>
      </p:sp>
      <p:sp>
        <p:nvSpPr>
          <p:cNvPr id="17" name="Text 15"/>
          <p:cNvSpPr/>
          <p:nvPr/>
        </p:nvSpPr>
        <p:spPr>
          <a:xfrm>
            <a:off x="1048345" y="4630103"/>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Objetivo</a:t>
            </a:r>
            <a:endParaRPr lang="es-PE" noProof="0" dirty="0"/>
          </a:p>
        </p:txBody>
      </p:sp>
      <p:sp>
        <p:nvSpPr>
          <p:cNvPr id="18" name="Text 16"/>
          <p:cNvSpPr/>
          <p:nvPr/>
        </p:nvSpPr>
        <p:spPr>
          <a:xfrm>
            <a:off x="4950976" y="4630103"/>
            <a:ext cx="8631198" cy="739854"/>
          </a:xfrm>
          <a:prstGeom prst="rect">
            <a:avLst/>
          </a:prstGeom>
          <a:noFill/>
          <a:ln/>
        </p:spPr>
        <p:txBody>
          <a:bodyPr wrap="squar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Registrar un nuevo cliente en el sistema con sus datos personales y de contacto para poder gestionar su información.</a:t>
            </a:r>
            <a:endParaRPr lang="es-PE" noProof="0" dirty="0"/>
          </a:p>
        </p:txBody>
      </p:sp>
      <p:sp>
        <p:nvSpPr>
          <p:cNvPr id="19" name="Shape 17"/>
          <p:cNvSpPr/>
          <p:nvPr/>
        </p:nvSpPr>
        <p:spPr>
          <a:xfrm>
            <a:off x="817007" y="5516285"/>
            <a:ext cx="12996386" cy="1402437"/>
          </a:xfrm>
          <a:prstGeom prst="rect">
            <a:avLst/>
          </a:prstGeom>
          <a:solidFill>
            <a:srgbClr val="000000">
              <a:alpha val="4000"/>
            </a:srgbClr>
          </a:solidFill>
          <a:ln/>
        </p:spPr>
        <p:txBody>
          <a:bodyPr/>
          <a:lstStyle/>
          <a:p>
            <a:endParaRPr lang="es-PE" noProof="0" dirty="0"/>
          </a:p>
        </p:txBody>
      </p:sp>
      <p:sp>
        <p:nvSpPr>
          <p:cNvPr id="20" name="Text 18"/>
          <p:cNvSpPr/>
          <p:nvPr/>
        </p:nvSpPr>
        <p:spPr>
          <a:xfrm>
            <a:off x="1048345" y="5662613"/>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Resumen de Flujo</a:t>
            </a:r>
            <a:endParaRPr lang="es-PE" noProof="0" dirty="0"/>
          </a:p>
        </p:txBody>
      </p:sp>
      <p:sp>
        <p:nvSpPr>
          <p:cNvPr id="21" name="Text 19"/>
          <p:cNvSpPr/>
          <p:nvPr/>
        </p:nvSpPr>
        <p:spPr>
          <a:xfrm>
            <a:off x="4950976" y="5662613"/>
            <a:ext cx="8631198" cy="1109782"/>
          </a:xfrm>
          <a:prstGeom prst="rect">
            <a:avLst/>
          </a:prstGeom>
          <a:noFill/>
          <a:ln/>
        </p:spPr>
        <p:txBody>
          <a:bodyPr wrap="squar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1. Actor accede a módulo 'Clientes' y selecciona 'Nuevo Cliente'. 2. Sistema muestra formulario. 3. Actor ingresa datos y guarda. 4. Sistema valida y registra al cliente, generando un ID único. 5. Sistema muestra mensaje de éxito.</a:t>
            </a:r>
            <a:endParaRPr lang="es-PE" noProof="0" dirty="0"/>
          </a:p>
        </p:txBody>
      </p:sp>
      <p:sp>
        <p:nvSpPr>
          <p:cNvPr id="22" name="Shape 20"/>
          <p:cNvSpPr/>
          <p:nvPr/>
        </p:nvSpPr>
        <p:spPr>
          <a:xfrm>
            <a:off x="817007" y="6918722"/>
            <a:ext cx="12996386" cy="662583"/>
          </a:xfrm>
          <a:prstGeom prst="rect">
            <a:avLst/>
          </a:prstGeom>
          <a:solidFill>
            <a:srgbClr val="FFFFFF">
              <a:alpha val="4000"/>
            </a:srgbClr>
          </a:solidFill>
          <a:ln/>
        </p:spPr>
        <p:txBody>
          <a:bodyPr/>
          <a:lstStyle/>
          <a:p>
            <a:endParaRPr lang="es-PE" noProof="0" dirty="0"/>
          </a:p>
        </p:txBody>
      </p:sp>
      <p:sp>
        <p:nvSpPr>
          <p:cNvPr id="23" name="Text 21"/>
          <p:cNvSpPr/>
          <p:nvPr/>
        </p:nvSpPr>
        <p:spPr>
          <a:xfrm>
            <a:off x="1048345" y="7065050"/>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Post-condición</a:t>
            </a:r>
            <a:endParaRPr lang="es-PE" noProof="0" dirty="0"/>
          </a:p>
        </p:txBody>
      </p:sp>
      <p:sp>
        <p:nvSpPr>
          <p:cNvPr id="24" name="Text 22"/>
          <p:cNvSpPr/>
          <p:nvPr/>
        </p:nvSpPr>
        <p:spPr>
          <a:xfrm>
            <a:off x="4950976" y="7065050"/>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El cliente queda registrado en la BD con un ID único y asignado al segmento 'Nuevo'.</a:t>
            </a:r>
            <a:endParaRPr lang="es-PE"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5573" y="783669"/>
            <a:ext cx="10355937" cy="692467"/>
          </a:xfrm>
          <a:prstGeom prst="rect">
            <a:avLst/>
          </a:prstGeom>
          <a:noFill/>
          <a:ln/>
        </p:spPr>
        <p:txBody>
          <a:bodyPr wrap="none" lIns="0" tIns="0" rIns="0" bIns="0" rtlCol="0" anchor="t"/>
          <a:lstStyle/>
          <a:p>
            <a:pPr marL="0" indent="0" algn="l">
              <a:lnSpc>
                <a:spcPts val="5450"/>
              </a:lnSpc>
              <a:buNone/>
            </a:pPr>
            <a:r>
              <a:rPr lang="es-PE" sz="4350" b="1" noProof="0" dirty="0">
                <a:solidFill>
                  <a:srgbClr val="666666"/>
                </a:solidFill>
                <a:latin typeface="Staatliches Bold" pitchFamily="34" charset="0"/>
                <a:ea typeface="Staatliches Bold" pitchFamily="34" charset="-122"/>
                <a:cs typeface="Staatliches Bold" pitchFamily="34" charset="-120"/>
              </a:rPr>
              <a:t>Ejemplo de Caso de Uso: Crear Promoción (CU-005)</a:t>
            </a:r>
            <a:endParaRPr lang="es-PE" sz="4350" noProof="0" dirty="0"/>
          </a:p>
        </p:txBody>
      </p:sp>
      <p:sp>
        <p:nvSpPr>
          <p:cNvPr id="3" name="Shape 1"/>
          <p:cNvSpPr/>
          <p:nvPr/>
        </p:nvSpPr>
        <p:spPr>
          <a:xfrm>
            <a:off x="775573" y="1919288"/>
            <a:ext cx="13079254" cy="5526643"/>
          </a:xfrm>
          <a:prstGeom prst="roundRect">
            <a:avLst>
              <a:gd name="adj" fmla="val 1684"/>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783193" y="1926907"/>
            <a:ext cx="13064014" cy="635437"/>
          </a:xfrm>
          <a:prstGeom prst="rect">
            <a:avLst/>
          </a:prstGeom>
          <a:solidFill>
            <a:srgbClr val="FFFFFF">
              <a:alpha val="4000"/>
            </a:srgbClr>
          </a:solidFill>
          <a:ln/>
        </p:spPr>
        <p:txBody>
          <a:bodyPr/>
          <a:lstStyle/>
          <a:p>
            <a:endParaRPr lang="es-PE" noProof="0" dirty="0"/>
          </a:p>
        </p:txBody>
      </p:sp>
      <p:sp>
        <p:nvSpPr>
          <p:cNvPr id="5" name="Text 3"/>
          <p:cNvSpPr/>
          <p:nvPr/>
        </p:nvSpPr>
        <p:spPr>
          <a:xfrm>
            <a:off x="1004887" y="2067401"/>
            <a:ext cx="3472220" cy="354449"/>
          </a:xfrm>
          <a:prstGeom prst="rect">
            <a:avLst/>
          </a:prstGeom>
          <a:noFill/>
          <a:ln/>
        </p:spPr>
        <p:txBody>
          <a:bodyPr wrap="none" lIns="0" tIns="0" rIns="0" bIns="0" rtlCol="0" anchor="t"/>
          <a:lstStyle/>
          <a:p>
            <a:pPr marL="0" indent="0" algn="l">
              <a:lnSpc>
                <a:spcPts val="2750"/>
              </a:lnSpc>
              <a:buNone/>
            </a:pPr>
            <a:r>
              <a:rPr lang="es-PE" sz="1700" b="1" noProof="0" dirty="0">
                <a:solidFill>
                  <a:srgbClr val="666666"/>
                </a:solidFill>
                <a:latin typeface="Abel" pitchFamily="34" charset="0"/>
                <a:ea typeface="Abel" pitchFamily="34" charset="-122"/>
                <a:cs typeface="Abel" pitchFamily="34" charset="-120"/>
              </a:rPr>
              <a:t>Elemento</a:t>
            </a:r>
            <a:endParaRPr lang="es-PE" sz="1700" noProof="0" dirty="0"/>
          </a:p>
        </p:txBody>
      </p:sp>
      <p:sp>
        <p:nvSpPr>
          <p:cNvPr id="6" name="Text 4"/>
          <p:cNvSpPr/>
          <p:nvPr/>
        </p:nvSpPr>
        <p:spPr>
          <a:xfrm>
            <a:off x="4927878" y="2067401"/>
            <a:ext cx="8697754" cy="354449"/>
          </a:xfrm>
          <a:prstGeom prst="rect">
            <a:avLst/>
          </a:prstGeom>
          <a:noFill/>
          <a:ln/>
        </p:spPr>
        <p:txBody>
          <a:bodyPr wrap="none" lIns="0" tIns="0" rIns="0" bIns="0" rtlCol="0" anchor="t"/>
          <a:lstStyle/>
          <a:p>
            <a:pPr marL="0" indent="0" algn="l">
              <a:lnSpc>
                <a:spcPts val="2750"/>
              </a:lnSpc>
              <a:buNone/>
            </a:pPr>
            <a:r>
              <a:rPr lang="es-PE" sz="1700" b="1" noProof="0" dirty="0">
                <a:solidFill>
                  <a:srgbClr val="666666"/>
                </a:solidFill>
                <a:latin typeface="Abel" pitchFamily="34" charset="0"/>
                <a:ea typeface="Abel" pitchFamily="34" charset="-122"/>
                <a:cs typeface="Abel" pitchFamily="34" charset="-120"/>
              </a:rPr>
              <a:t>Descripción</a:t>
            </a:r>
            <a:endParaRPr lang="es-PE" sz="1700" noProof="0" dirty="0"/>
          </a:p>
        </p:txBody>
      </p:sp>
      <p:sp>
        <p:nvSpPr>
          <p:cNvPr id="7" name="Shape 5"/>
          <p:cNvSpPr/>
          <p:nvPr/>
        </p:nvSpPr>
        <p:spPr>
          <a:xfrm>
            <a:off x="783193" y="2562344"/>
            <a:ext cx="13064014" cy="635437"/>
          </a:xfrm>
          <a:prstGeom prst="rect">
            <a:avLst/>
          </a:prstGeom>
          <a:solidFill>
            <a:srgbClr val="000000">
              <a:alpha val="4000"/>
            </a:srgbClr>
          </a:solidFill>
          <a:ln/>
        </p:spPr>
        <p:txBody>
          <a:bodyPr/>
          <a:lstStyle/>
          <a:p>
            <a:endParaRPr lang="es-PE" noProof="0" dirty="0"/>
          </a:p>
        </p:txBody>
      </p:sp>
      <p:sp>
        <p:nvSpPr>
          <p:cNvPr id="8" name="Text 6"/>
          <p:cNvSpPr/>
          <p:nvPr/>
        </p:nvSpPr>
        <p:spPr>
          <a:xfrm>
            <a:off x="1004887" y="2702838"/>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Código</a:t>
            </a:r>
            <a:endParaRPr lang="es-PE" sz="1700" noProof="0" dirty="0"/>
          </a:p>
        </p:txBody>
      </p:sp>
      <p:sp>
        <p:nvSpPr>
          <p:cNvPr id="9" name="Text 7"/>
          <p:cNvSpPr/>
          <p:nvPr/>
        </p:nvSpPr>
        <p:spPr>
          <a:xfrm>
            <a:off x="4927878" y="2702838"/>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CU – 005</a:t>
            </a:r>
            <a:endParaRPr lang="es-PE" sz="1700" noProof="0" dirty="0"/>
          </a:p>
        </p:txBody>
      </p:sp>
      <p:sp>
        <p:nvSpPr>
          <p:cNvPr id="10" name="Shape 8"/>
          <p:cNvSpPr/>
          <p:nvPr/>
        </p:nvSpPr>
        <p:spPr>
          <a:xfrm>
            <a:off x="783193" y="3197781"/>
            <a:ext cx="13064014" cy="635437"/>
          </a:xfrm>
          <a:prstGeom prst="rect">
            <a:avLst/>
          </a:prstGeom>
          <a:solidFill>
            <a:srgbClr val="FFFFFF">
              <a:alpha val="4000"/>
            </a:srgbClr>
          </a:solidFill>
          <a:ln/>
        </p:spPr>
        <p:txBody>
          <a:bodyPr/>
          <a:lstStyle/>
          <a:p>
            <a:endParaRPr lang="es-PE" noProof="0" dirty="0"/>
          </a:p>
        </p:txBody>
      </p:sp>
      <p:sp>
        <p:nvSpPr>
          <p:cNvPr id="11" name="Text 9"/>
          <p:cNvSpPr/>
          <p:nvPr/>
        </p:nvSpPr>
        <p:spPr>
          <a:xfrm>
            <a:off x="1004887" y="3338274"/>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Caso de uso</a:t>
            </a:r>
            <a:endParaRPr lang="es-PE" sz="1700" noProof="0" dirty="0"/>
          </a:p>
        </p:txBody>
      </p:sp>
      <p:sp>
        <p:nvSpPr>
          <p:cNvPr id="12" name="Text 10"/>
          <p:cNvSpPr/>
          <p:nvPr/>
        </p:nvSpPr>
        <p:spPr>
          <a:xfrm>
            <a:off x="4927878" y="3338274"/>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Crear Promoción</a:t>
            </a:r>
            <a:endParaRPr lang="es-PE" sz="1700" noProof="0" dirty="0"/>
          </a:p>
        </p:txBody>
      </p:sp>
      <p:sp>
        <p:nvSpPr>
          <p:cNvPr id="13" name="Shape 11"/>
          <p:cNvSpPr/>
          <p:nvPr/>
        </p:nvSpPr>
        <p:spPr>
          <a:xfrm>
            <a:off x="783193" y="3833217"/>
            <a:ext cx="13064014" cy="635437"/>
          </a:xfrm>
          <a:prstGeom prst="rect">
            <a:avLst/>
          </a:prstGeom>
          <a:solidFill>
            <a:srgbClr val="000000">
              <a:alpha val="4000"/>
            </a:srgbClr>
          </a:solidFill>
          <a:ln/>
        </p:spPr>
        <p:txBody>
          <a:bodyPr/>
          <a:lstStyle/>
          <a:p>
            <a:endParaRPr lang="es-PE" noProof="0" dirty="0"/>
          </a:p>
        </p:txBody>
      </p:sp>
      <p:sp>
        <p:nvSpPr>
          <p:cNvPr id="14" name="Text 12"/>
          <p:cNvSpPr/>
          <p:nvPr/>
        </p:nvSpPr>
        <p:spPr>
          <a:xfrm>
            <a:off x="1004887" y="3973711"/>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Actores</a:t>
            </a:r>
            <a:endParaRPr lang="es-PE" sz="1700" noProof="0" dirty="0"/>
          </a:p>
        </p:txBody>
      </p:sp>
      <p:sp>
        <p:nvSpPr>
          <p:cNvPr id="15" name="Text 13"/>
          <p:cNvSpPr/>
          <p:nvPr/>
        </p:nvSpPr>
        <p:spPr>
          <a:xfrm>
            <a:off x="4927878" y="3973711"/>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Gerencia de Marketing</a:t>
            </a:r>
            <a:endParaRPr lang="es-PE" sz="1700" noProof="0" dirty="0"/>
          </a:p>
        </p:txBody>
      </p:sp>
      <p:sp>
        <p:nvSpPr>
          <p:cNvPr id="16" name="Shape 14"/>
          <p:cNvSpPr/>
          <p:nvPr/>
        </p:nvSpPr>
        <p:spPr>
          <a:xfrm>
            <a:off x="783193" y="4468654"/>
            <a:ext cx="13064014" cy="635437"/>
          </a:xfrm>
          <a:prstGeom prst="rect">
            <a:avLst/>
          </a:prstGeom>
          <a:solidFill>
            <a:srgbClr val="FFFFFF">
              <a:alpha val="4000"/>
            </a:srgbClr>
          </a:solidFill>
          <a:ln/>
        </p:spPr>
        <p:txBody>
          <a:bodyPr/>
          <a:lstStyle/>
          <a:p>
            <a:endParaRPr lang="es-PE" noProof="0" dirty="0"/>
          </a:p>
        </p:txBody>
      </p:sp>
      <p:sp>
        <p:nvSpPr>
          <p:cNvPr id="17" name="Text 15"/>
          <p:cNvSpPr/>
          <p:nvPr/>
        </p:nvSpPr>
        <p:spPr>
          <a:xfrm>
            <a:off x="1004887" y="4609148"/>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Objetivo</a:t>
            </a:r>
            <a:endParaRPr lang="es-PE" sz="1700" noProof="0" dirty="0"/>
          </a:p>
        </p:txBody>
      </p:sp>
      <p:sp>
        <p:nvSpPr>
          <p:cNvPr id="18" name="Text 16"/>
          <p:cNvSpPr/>
          <p:nvPr/>
        </p:nvSpPr>
        <p:spPr>
          <a:xfrm>
            <a:off x="4927878" y="4609148"/>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Crear una nueva promoción personalizada con condiciones específicas para atraer y retener clientes.</a:t>
            </a:r>
            <a:endParaRPr lang="es-PE" sz="1700" noProof="0" dirty="0"/>
          </a:p>
        </p:txBody>
      </p:sp>
      <p:sp>
        <p:nvSpPr>
          <p:cNvPr id="19" name="Shape 17"/>
          <p:cNvSpPr/>
          <p:nvPr/>
        </p:nvSpPr>
        <p:spPr>
          <a:xfrm>
            <a:off x="783193" y="5104090"/>
            <a:ext cx="13064014" cy="1344335"/>
          </a:xfrm>
          <a:prstGeom prst="rect">
            <a:avLst/>
          </a:prstGeom>
          <a:solidFill>
            <a:srgbClr val="000000">
              <a:alpha val="4000"/>
            </a:srgbClr>
          </a:solidFill>
          <a:ln/>
        </p:spPr>
        <p:txBody>
          <a:bodyPr/>
          <a:lstStyle/>
          <a:p>
            <a:endParaRPr lang="es-PE" noProof="0" dirty="0"/>
          </a:p>
        </p:txBody>
      </p:sp>
      <p:sp>
        <p:nvSpPr>
          <p:cNvPr id="20" name="Text 18"/>
          <p:cNvSpPr/>
          <p:nvPr/>
        </p:nvSpPr>
        <p:spPr>
          <a:xfrm>
            <a:off x="1004887" y="5244584"/>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Resumen de Flujo</a:t>
            </a:r>
            <a:endParaRPr lang="es-PE" sz="1700" noProof="0" dirty="0"/>
          </a:p>
        </p:txBody>
      </p:sp>
      <p:sp>
        <p:nvSpPr>
          <p:cNvPr id="21" name="Text 19"/>
          <p:cNvSpPr/>
          <p:nvPr/>
        </p:nvSpPr>
        <p:spPr>
          <a:xfrm>
            <a:off x="4927878" y="5244584"/>
            <a:ext cx="8697754" cy="1063347"/>
          </a:xfrm>
          <a:prstGeom prst="rect">
            <a:avLst/>
          </a:prstGeom>
          <a:noFill/>
          <a:ln/>
        </p:spPr>
        <p:txBody>
          <a:bodyPr wrap="squar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1. Actor accede a 'Promociones' y selecciona 'Nueva Promoción'. 2. Completa el formulario (nombre, tipo, fechas, segmento objetivo). 3. Sistema valida los datos, guarda la promoción con un código único y la activa o programa.</a:t>
            </a:r>
            <a:endParaRPr lang="es-PE" sz="1700" noProof="0" dirty="0"/>
          </a:p>
        </p:txBody>
      </p:sp>
      <p:sp>
        <p:nvSpPr>
          <p:cNvPr id="22" name="Shape 20"/>
          <p:cNvSpPr/>
          <p:nvPr/>
        </p:nvSpPr>
        <p:spPr>
          <a:xfrm>
            <a:off x="783193" y="6448425"/>
            <a:ext cx="13064014" cy="989886"/>
          </a:xfrm>
          <a:prstGeom prst="rect">
            <a:avLst/>
          </a:prstGeom>
          <a:solidFill>
            <a:srgbClr val="FFFFFF">
              <a:alpha val="4000"/>
            </a:srgbClr>
          </a:solidFill>
          <a:ln/>
        </p:spPr>
        <p:txBody>
          <a:bodyPr/>
          <a:lstStyle/>
          <a:p>
            <a:endParaRPr lang="es-PE" noProof="0" dirty="0"/>
          </a:p>
        </p:txBody>
      </p:sp>
      <p:sp>
        <p:nvSpPr>
          <p:cNvPr id="23" name="Text 21"/>
          <p:cNvSpPr/>
          <p:nvPr/>
        </p:nvSpPr>
        <p:spPr>
          <a:xfrm>
            <a:off x="1004887" y="6588919"/>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Post-condición</a:t>
            </a:r>
            <a:endParaRPr lang="es-PE" sz="1700" noProof="0" dirty="0"/>
          </a:p>
        </p:txBody>
      </p:sp>
      <p:sp>
        <p:nvSpPr>
          <p:cNvPr id="24" name="Text 22"/>
          <p:cNvSpPr/>
          <p:nvPr/>
        </p:nvSpPr>
        <p:spPr>
          <a:xfrm>
            <a:off x="4927878" y="6588919"/>
            <a:ext cx="8697754" cy="708898"/>
          </a:xfrm>
          <a:prstGeom prst="rect">
            <a:avLst/>
          </a:prstGeom>
          <a:noFill/>
          <a:ln/>
        </p:spPr>
        <p:txBody>
          <a:bodyPr wrap="squar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La promoción queda registrada, con estado 'Activa' o 'Programada' y visible para los segmentos objetivo.</a:t>
            </a:r>
            <a:endParaRPr lang="es-PE" sz="17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4267" y="661511"/>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rgbClr val="666666"/>
                </a:solidFill>
                <a:latin typeface="Staatliches Bold" pitchFamily="34" charset="0"/>
                <a:ea typeface="Staatliches Bold" pitchFamily="34" charset="-122"/>
                <a:cs typeface="Staatliches Bold" pitchFamily="34" charset="-120"/>
              </a:rPr>
              <a:t>Ejemplo de Caso de Uso: Registrar Incidencia (CU-012)</a:t>
            </a:r>
            <a:endParaRPr lang="es-PE" sz="4500" noProof="0" dirty="0"/>
          </a:p>
        </p:txBody>
      </p:sp>
      <p:sp>
        <p:nvSpPr>
          <p:cNvPr id="3" name="Shape 1"/>
          <p:cNvSpPr/>
          <p:nvPr/>
        </p:nvSpPr>
        <p:spPr>
          <a:xfrm>
            <a:off x="804267" y="1839158"/>
            <a:ext cx="13021866" cy="5728811"/>
          </a:xfrm>
          <a:prstGeom prst="roundRect">
            <a:avLst>
              <a:gd name="adj" fmla="val 1685"/>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811887" y="1846778"/>
            <a:ext cx="13006626" cy="658654"/>
          </a:xfrm>
          <a:prstGeom prst="rect">
            <a:avLst/>
          </a:prstGeom>
          <a:solidFill>
            <a:srgbClr val="FFFFFF">
              <a:alpha val="4000"/>
            </a:srgbClr>
          </a:solidFill>
          <a:ln/>
        </p:spPr>
        <p:txBody>
          <a:bodyPr/>
          <a:lstStyle/>
          <a:p>
            <a:endParaRPr lang="es-PE" noProof="0" dirty="0"/>
          </a:p>
        </p:txBody>
      </p:sp>
      <p:sp>
        <p:nvSpPr>
          <p:cNvPr id="5" name="Text 3"/>
          <p:cNvSpPr/>
          <p:nvPr/>
        </p:nvSpPr>
        <p:spPr>
          <a:xfrm>
            <a:off x="1041797" y="1992273"/>
            <a:ext cx="3438525" cy="367665"/>
          </a:xfrm>
          <a:prstGeom prst="rect">
            <a:avLst/>
          </a:prstGeom>
          <a:noFill/>
          <a:ln/>
        </p:spPr>
        <p:txBody>
          <a:bodyPr wrap="none" lIns="0" tIns="0" rIns="0" bIns="0" rtlCol="0" anchor="t"/>
          <a:lstStyle/>
          <a:p>
            <a:pPr marL="0" indent="0" algn="l">
              <a:lnSpc>
                <a:spcPts val="2850"/>
              </a:lnSpc>
              <a:buNone/>
            </a:pPr>
            <a:r>
              <a:rPr lang="es-PE" sz="1800" b="1" noProof="0" dirty="0">
                <a:solidFill>
                  <a:srgbClr val="666666"/>
                </a:solidFill>
                <a:latin typeface="Abel" pitchFamily="34" charset="0"/>
                <a:ea typeface="Abel" pitchFamily="34" charset="-122"/>
                <a:cs typeface="Abel" pitchFamily="34" charset="-120"/>
              </a:rPr>
              <a:t>Elemento</a:t>
            </a:r>
            <a:endParaRPr lang="es-PE" sz="1800" noProof="0" dirty="0"/>
          </a:p>
        </p:txBody>
      </p:sp>
      <p:sp>
        <p:nvSpPr>
          <p:cNvPr id="6" name="Text 4"/>
          <p:cNvSpPr/>
          <p:nvPr/>
        </p:nvSpPr>
        <p:spPr>
          <a:xfrm>
            <a:off x="4947523" y="1992273"/>
            <a:ext cx="8641199" cy="367665"/>
          </a:xfrm>
          <a:prstGeom prst="rect">
            <a:avLst/>
          </a:prstGeom>
          <a:noFill/>
          <a:ln/>
        </p:spPr>
        <p:txBody>
          <a:bodyPr wrap="none" lIns="0" tIns="0" rIns="0" bIns="0" rtlCol="0" anchor="t"/>
          <a:lstStyle/>
          <a:p>
            <a:pPr marL="0" indent="0" algn="l">
              <a:lnSpc>
                <a:spcPts val="2850"/>
              </a:lnSpc>
              <a:buNone/>
            </a:pPr>
            <a:r>
              <a:rPr lang="es-PE" sz="1800" b="1" noProof="0" dirty="0">
                <a:solidFill>
                  <a:srgbClr val="666666"/>
                </a:solidFill>
                <a:latin typeface="Abel" pitchFamily="34" charset="0"/>
                <a:ea typeface="Abel" pitchFamily="34" charset="-122"/>
                <a:cs typeface="Abel" pitchFamily="34" charset="-120"/>
              </a:rPr>
              <a:t>Descripción</a:t>
            </a:r>
            <a:endParaRPr lang="es-PE" sz="1800" noProof="0" dirty="0"/>
          </a:p>
        </p:txBody>
      </p:sp>
      <p:sp>
        <p:nvSpPr>
          <p:cNvPr id="7" name="Shape 5"/>
          <p:cNvSpPr/>
          <p:nvPr/>
        </p:nvSpPr>
        <p:spPr>
          <a:xfrm>
            <a:off x="811887" y="2505432"/>
            <a:ext cx="13006626" cy="658654"/>
          </a:xfrm>
          <a:prstGeom prst="rect">
            <a:avLst/>
          </a:prstGeom>
          <a:solidFill>
            <a:srgbClr val="000000">
              <a:alpha val="4000"/>
            </a:srgbClr>
          </a:solidFill>
          <a:ln/>
        </p:spPr>
        <p:txBody>
          <a:bodyPr/>
          <a:lstStyle/>
          <a:p>
            <a:endParaRPr lang="es-PE" noProof="0" dirty="0"/>
          </a:p>
        </p:txBody>
      </p:sp>
      <p:sp>
        <p:nvSpPr>
          <p:cNvPr id="8" name="Text 6"/>
          <p:cNvSpPr/>
          <p:nvPr/>
        </p:nvSpPr>
        <p:spPr>
          <a:xfrm>
            <a:off x="1041797" y="2650927"/>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Código</a:t>
            </a:r>
            <a:endParaRPr lang="es-PE" sz="1800" noProof="0" dirty="0"/>
          </a:p>
        </p:txBody>
      </p:sp>
      <p:sp>
        <p:nvSpPr>
          <p:cNvPr id="9" name="Text 7"/>
          <p:cNvSpPr/>
          <p:nvPr/>
        </p:nvSpPr>
        <p:spPr>
          <a:xfrm>
            <a:off x="4947523" y="2650927"/>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CU – 012</a:t>
            </a:r>
            <a:endParaRPr lang="es-PE" sz="1800" noProof="0" dirty="0"/>
          </a:p>
        </p:txBody>
      </p:sp>
      <p:sp>
        <p:nvSpPr>
          <p:cNvPr id="10" name="Shape 8"/>
          <p:cNvSpPr/>
          <p:nvPr/>
        </p:nvSpPr>
        <p:spPr>
          <a:xfrm>
            <a:off x="811887" y="3164086"/>
            <a:ext cx="13006626" cy="658654"/>
          </a:xfrm>
          <a:prstGeom prst="rect">
            <a:avLst/>
          </a:prstGeom>
          <a:solidFill>
            <a:srgbClr val="FFFFFF">
              <a:alpha val="4000"/>
            </a:srgbClr>
          </a:solidFill>
          <a:ln/>
        </p:spPr>
        <p:txBody>
          <a:bodyPr/>
          <a:lstStyle/>
          <a:p>
            <a:endParaRPr lang="es-PE" noProof="0" dirty="0"/>
          </a:p>
        </p:txBody>
      </p:sp>
      <p:sp>
        <p:nvSpPr>
          <p:cNvPr id="11" name="Text 9"/>
          <p:cNvSpPr/>
          <p:nvPr/>
        </p:nvSpPr>
        <p:spPr>
          <a:xfrm>
            <a:off x="1041797" y="3309580"/>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Caso de uso</a:t>
            </a:r>
            <a:endParaRPr lang="es-PE" sz="1800" noProof="0" dirty="0"/>
          </a:p>
        </p:txBody>
      </p:sp>
      <p:sp>
        <p:nvSpPr>
          <p:cNvPr id="12" name="Text 10"/>
          <p:cNvSpPr/>
          <p:nvPr/>
        </p:nvSpPr>
        <p:spPr>
          <a:xfrm>
            <a:off x="4947523" y="3309580"/>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Registrar Incidencia</a:t>
            </a:r>
            <a:endParaRPr lang="es-PE" sz="1800" noProof="0" dirty="0"/>
          </a:p>
        </p:txBody>
      </p:sp>
      <p:sp>
        <p:nvSpPr>
          <p:cNvPr id="13" name="Shape 11"/>
          <p:cNvSpPr/>
          <p:nvPr/>
        </p:nvSpPr>
        <p:spPr>
          <a:xfrm>
            <a:off x="811887" y="3822740"/>
            <a:ext cx="13006626" cy="658654"/>
          </a:xfrm>
          <a:prstGeom prst="rect">
            <a:avLst/>
          </a:prstGeom>
          <a:solidFill>
            <a:srgbClr val="000000">
              <a:alpha val="4000"/>
            </a:srgbClr>
          </a:solidFill>
          <a:ln/>
        </p:spPr>
        <p:txBody>
          <a:bodyPr/>
          <a:lstStyle/>
          <a:p>
            <a:endParaRPr lang="es-PE" noProof="0" dirty="0"/>
          </a:p>
        </p:txBody>
      </p:sp>
      <p:sp>
        <p:nvSpPr>
          <p:cNvPr id="14" name="Text 12"/>
          <p:cNvSpPr/>
          <p:nvPr/>
        </p:nvSpPr>
        <p:spPr>
          <a:xfrm>
            <a:off x="1041797" y="3968234"/>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Actores</a:t>
            </a:r>
            <a:endParaRPr lang="es-PE" sz="1800" noProof="0" dirty="0"/>
          </a:p>
        </p:txBody>
      </p:sp>
      <p:sp>
        <p:nvSpPr>
          <p:cNvPr id="15" name="Text 13"/>
          <p:cNvSpPr/>
          <p:nvPr/>
        </p:nvSpPr>
        <p:spPr>
          <a:xfrm>
            <a:off x="4947523" y="3968234"/>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Gerencia de Servicio al Cliente</a:t>
            </a:r>
            <a:endParaRPr lang="es-PE" sz="1800" noProof="0" dirty="0"/>
          </a:p>
        </p:txBody>
      </p:sp>
      <p:sp>
        <p:nvSpPr>
          <p:cNvPr id="16" name="Shape 14"/>
          <p:cNvSpPr/>
          <p:nvPr/>
        </p:nvSpPr>
        <p:spPr>
          <a:xfrm>
            <a:off x="811887" y="4481393"/>
            <a:ext cx="13006626" cy="658654"/>
          </a:xfrm>
          <a:prstGeom prst="rect">
            <a:avLst/>
          </a:prstGeom>
          <a:solidFill>
            <a:srgbClr val="FFFFFF">
              <a:alpha val="4000"/>
            </a:srgbClr>
          </a:solidFill>
          <a:ln/>
        </p:spPr>
        <p:txBody>
          <a:bodyPr/>
          <a:lstStyle/>
          <a:p>
            <a:endParaRPr lang="es-PE" noProof="0" dirty="0"/>
          </a:p>
        </p:txBody>
      </p:sp>
      <p:sp>
        <p:nvSpPr>
          <p:cNvPr id="17" name="Text 15"/>
          <p:cNvSpPr/>
          <p:nvPr/>
        </p:nvSpPr>
        <p:spPr>
          <a:xfrm>
            <a:off x="1041797" y="4626888"/>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Objetivo</a:t>
            </a:r>
            <a:endParaRPr lang="es-PE" sz="1800" noProof="0" dirty="0"/>
          </a:p>
        </p:txBody>
      </p:sp>
      <p:sp>
        <p:nvSpPr>
          <p:cNvPr id="18" name="Text 16"/>
          <p:cNvSpPr/>
          <p:nvPr/>
        </p:nvSpPr>
        <p:spPr>
          <a:xfrm>
            <a:off x="4947523" y="4626888"/>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Crear un registro de una queja, problema o solicitud de un cliente para su seguimiento y resolución.</a:t>
            </a:r>
            <a:endParaRPr lang="es-PE" sz="1800" noProof="0" dirty="0"/>
          </a:p>
        </p:txBody>
      </p:sp>
      <p:sp>
        <p:nvSpPr>
          <p:cNvPr id="19" name="Shape 17"/>
          <p:cNvSpPr/>
          <p:nvPr/>
        </p:nvSpPr>
        <p:spPr>
          <a:xfrm>
            <a:off x="811887" y="5140047"/>
            <a:ext cx="13006626" cy="1393984"/>
          </a:xfrm>
          <a:prstGeom prst="rect">
            <a:avLst/>
          </a:prstGeom>
          <a:solidFill>
            <a:srgbClr val="000000">
              <a:alpha val="4000"/>
            </a:srgbClr>
          </a:solidFill>
          <a:ln/>
        </p:spPr>
        <p:txBody>
          <a:bodyPr/>
          <a:lstStyle/>
          <a:p>
            <a:endParaRPr lang="es-PE" noProof="0" dirty="0"/>
          </a:p>
        </p:txBody>
      </p:sp>
      <p:sp>
        <p:nvSpPr>
          <p:cNvPr id="20" name="Text 18"/>
          <p:cNvSpPr/>
          <p:nvPr/>
        </p:nvSpPr>
        <p:spPr>
          <a:xfrm>
            <a:off x="1041797" y="5285542"/>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Resumen de Flujo</a:t>
            </a:r>
            <a:endParaRPr lang="es-PE" sz="1800" noProof="0" dirty="0"/>
          </a:p>
        </p:txBody>
      </p:sp>
      <p:sp>
        <p:nvSpPr>
          <p:cNvPr id="21" name="Text 19"/>
          <p:cNvSpPr/>
          <p:nvPr/>
        </p:nvSpPr>
        <p:spPr>
          <a:xfrm>
            <a:off x="4947523" y="5285542"/>
            <a:ext cx="8641199" cy="1102995"/>
          </a:xfrm>
          <a:prstGeom prst="rect">
            <a:avLst/>
          </a:prstGeom>
          <a:noFill/>
          <a:ln/>
        </p:spPr>
        <p:txBody>
          <a:bodyPr wrap="squar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1. Actor accede a 'Atención' y selecciona 'Nuevo Ticket'. 2. Asocia un cliente y completa el formulario (tipo, prioridad, asunto). 3. Sistema valida y genera un ticket con un ID único y estado 'Abierto'.</a:t>
            </a:r>
            <a:endParaRPr lang="es-PE" sz="1800" noProof="0" dirty="0"/>
          </a:p>
        </p:txBody>
      </p:sp>
      <p:sp>
        <p:nvSpPr>
          <p:cNvPr id="22" name="Shape 20"/>
          <p:cNvSpPr/>
          <p:nvPr/>
        </p:nvSpPr>
        <p:spPr>
          <a:xfrm>
            <a:off x="811887" y="6534031"/>
            <a:ext cx="13006626" cy="1026319"/>
          </a:xfrm>
          <a:prstGeom prst="rect">
            <a:avLst/>
          </a:prstGeom>
          <a:solidFill>
            <a:srgbClr val="FFFFFF">
              <a:alpha val="4000"/>
            </a:srgbClr>
          </a:solidFill>
          <a:ln/>
        </p:spPr>
        <p:txBody>
          <a:bodyPr/>
          <a:lstStyle/>
          <a:p>
            <a:endParaRPr lang="es-PE" noProof="0" dirty="0"/>
          </a:p>
        </p:txBody>
      </p:sp>
      <p:sp>
        <p:nvSpPr>
          <p:cNvPr id="23" name="Text 21"/>
          <p:cNvSpPr/>
          <p:nvPr/>
        </p:nvSpPr>
        <p:spPr>
          <a:xfrm>
            <a:off x="1041797" y="6679525"/>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Post-condición</a:t>
            </a:r>
            <a:endParaRPr lang="es-PE" sz="1800" noProof="0" dirty="0"/>
          </a:p>
        </p:txBody>
      </p:sp>
      <p:sp>
        <p:nvSpPr>
          <p:cNvPr id="24" name="Text 22"/>
          <p:cNvSpPr/>
          <p:nvPr/>
        </p:nvSpPr>
        <p:spPr>
          <a:xfrm>
            <a:off x="4947523" y="6679525"/>
            <a:ext cx="8641199" cy="735330"/>
          </a:xfrm>
          <a:prstGeom prst="rect">
            <a:avLst/>
          </a:prstGeom>
          <a:noFill/>
          <a:ln/>
        </p:spPr>
        <p:txBody>
          <a:bodyPr wrap="squar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La incidencia queda registrada con un ID único y vinculada al historial del cliente. Se notifica al responsable.</a:t>
            </a:r>
            <a:endParaRPr lang="es-PE"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3CB5F-0205-44E2-6287-946FE046A4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59C59D-5C0D-958D-42C9-F63030A6F0C0}"/>
              </a:ext>
            </a:extLst>
          </p:cNvPr>
          <p:cNvSpPr/>
          <p:nvPr/>
        </p:nvSpPr>
        <p:spPr>
          <a:xfrm>
            <a:off x="503184" y="402839"/>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rgbClr val="666666"/>
                </a:solidFill>
                <a:latin typeface="Staatliches Bold" pitchFamily="34" charset="0"/>
                <a:ea typeface="Staatliches Bold" pitchFamily="34" charset="-122"/>
                <a:cs typeface="Staatliches Bold" pitchFamily="34" charset="-120"/>
              </a:rPr>
              <a:t>Diagrama de componentes</a:t>
            </a:r>
            <a:endParaRPr lang="es-PE" sz="4500" noProof="0" dirty="0"/>
          </a:p>
        </p:txBody>
      </p:sp>
      <p:pic>
        <p:nvPicPr>
          <p:cNvPr id="4" name="Imagen 3">
            <a:extLst>
              <a:ext uri="{FF2B5EF4-FFF2-40B4-BE49-F238E27FC236}">
                <a16:creationId xmlns:a16="http://schemas.microsoft.com/office/drawing/2014/main" id="{9F4D9372-4F76-C21E-9A6E-E0D531E42E7B}"/>
              </a:ext>
            </a:extLst>
          </p:cNvPr>
          <p:cNvPicPr>
            <a:picLocks noChangeAspect="1"/>
          </p:cNvPicPr>
          <p:nvPr/>
        </p:nvPicPr>
        <p:blipFill>
          <a:blip r:embed="rId3"/>
          <a:stretch>
            <a:fillRect/>
          </a:stretch>
        </p:blipFill>
        <p:spPr>
          <a:xfrm>
            <a:off x="3096205" y="1777574"/>
            <a:ext cx="9136683" cy="5149767"/>
          </a:xfrm>
          <a:prstGeom prst="rect">
            <a:avLst/>
          </a:prstGeom>
        </p:spPr>
      </p:pic>
    </p:spTree>
    <p:extLst>
      <p:ext uri="{BB962C8B-B14F-4D97-AF65-F5344CB8AC3E}">
        <p14:creationId xmlns:p14="http://schemas.microsoft.com/office/powerpoint/2010/main" val="209939227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225</TotalTime>
  <Words>1402</Words>
  <Application>Microsoft Office PowerPoint</Application>
  <PresentationFormat>Personalizado</PresentationFormat>
  <Paragraphs>178</Paragraphs>
  <Slides>13</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Abel</vt:lpstr>
      <vt:lpstr>Aptos</vt:lpstr>
      <vt:lpstr>Aptos Display</vt:lpstr>
      <vt:lpstr>Arial</vt:lpstr>
      <vt:lpstr>Staatliches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Gabriel Alzamora</dc:creator>
  <cp:lastModifiedBy>VV71162746 (Alzamora Yarleque, Gabriel Omar)</cp:lastModifiedBy>
  <cp:revision>4</cp:revision>
  <dcterms:created xsi:type="dcterms:W3CDTF">2025-11-04T06:04:27Z</dcterms:created>
  <dcterms:modified xsi:type="dcterms:W3CDTF">2025-11-06T01:44:45Z</dcterms:modified>
</cp:coreProperties>
</file>